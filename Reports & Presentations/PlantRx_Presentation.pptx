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3"/>
    <p:sldId id="257" r:id="rId4"/>
    <p:sldId id="259" r:id="rId5"/>
    <p:sldId id="258" r:id="rId6"/>
    <p:sldId id="260" r:id="rId7"/>
    <p:sldId id="261" r:id="rId8"/>
    <p:sldId id="262" r:id="rId9"/>
    <p:sldId id="272" r:id="rId10"/>
    <p:sldId id="263" r:id="rId11"/>
    <p:sldId id="264" r:id="rId12"/>
    <p:sldId id="265" r:id="rId13"/>
    <p:sldId id="266" r:id="rId14"/>
    <p:sldId id="269" r:id="rId15"/>
    <p:sldId id="274"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snapToObjects="1">
      <p:cViewPr varScale="1">
        <p:scale>
          <a:sx n="78" d="100"/>
          <a:sy n="78" d="100"/>
        </p:scale>
        <p:origin x="103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800" b="1">
                <a:solidFill>
                  <a:srgbClr val="5C3B25"/>
                </a:solidFill>
                <a:latin typeface="Cambria"/>
              </a:rPr>
              <a:t>Classes: diseased vs healthy</a:t>
            </a:r>
          </a:p>
        </c:rich>
      </c:tx>
      <c:overlay val="0"/>
    </c:title>
    <c:autoTitleDeleted val="0"/>
    <c:plotArea>
      <c:layout/>
      <c:barChart>
        <c:barDir val="col"/>
        <c:grouping val="clustered"/>
        <c:varyColors val="0"/>
        <c:ser>
          <c:idx val="0"/>
          <c:order val="0"/>
          <c:tx>
            <c:strRef>
              <c:f>Sheet1!$B$1</c:f>
              <c:strCache>
                <c:ptCount val="1"/>
                <c:pt idx="0">
                  <c:v>Value</c:v>
                </c:pt>
              </c:strCache>
            </c:strRef>
          </c:tx>
          <c:spPr>
            <a:solidFill>
              <a:srgbClr val="5E8C61"/>
            </a:solidFill>
          </c:spPr>
          <c:invertIfNegative val="1"/>
          <c:dPt>
            <c:idx val="0"/>
            <c:invertIfNegative val="1"/>
            <c:bubble3D val="0"/>
            <c:extLst>
              <c:ext xmlns:c16="http://schemas.microsoft.com/office/drawing/2014/chart" uri="{C3380CC4-5D6E-409C-BE32-E72D297353CC}">
                <c16:uniqueId val="{00000001-8966-4FAB-9B56-53198DF40E9A}"/>
              </c:ext>
            </c:extLst>
          </c:dPt>
          <c:dPt>
            <c:idx val="1"/>
            <c:invertIfNegative val="1"/>
            <c:bubble3D val="0"/>
            <c:spPr>
              <a:solidFill>
                <a:srgbClr val="C9B58A"/>
              </a:solidFill>
            </c:spPr>
            <c:extLst>
              <c:ext xmlns:c16="http://schemas.microsoft.com/office/drawing/2014/chart" uri="{C3380CC4-5D6E-409C-BE32-E72D297353CC}">
                <c16:uniqueId val="{00000003-8966-4FAB-9B56-53198DF40E9A}"/>
              </c:ext>
            </c:extLst>
          </c:dPt>
          <c:dLbls>
            <c:numFmt formatCode="0" sourceLinked="0"/>
            <c:spPr>
              <a:noFill/>
              <a:ln>
                <a:noFill/>
              </a:ln>
              <a:effectLst/>
            </c:spPr>
            <c:txPr>
              <a:bodyPr/>
              <a:lstStyle/>
              <a:p>
                <a:pPr>
                  <a:defRPr sz="1700" b="1">
                    <a:solidFill>
                      <a:srgbClr val="4D37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Diseased classes</c:v>
                </c:pt>
                <c:pt idx="1">
                  <c:v>Healthy classes</c:v>
                </c:pt>
              </c:strCache>
            </c:strRef>
          </c:cat>
          <c:val>
            <c:numRef>
              <c:f>Sheet1!$B$2:$B$3</c:f>
              <c:numCache>
                <c:formatCode>General</c:formatCode>
                <c:ptCount val="2"/>
                <c:pt idx="0">
                  <c:v>26</c:v>
                </c:pt>
                <c:pt idx="1">
                  <c:v>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8966-4FAB-9B56-53198DF40E9A}"/>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A6916D"/>
            </a:solidFill>
          </a:ln>
        </c:spPr>
        <c:txPr>
          <a:bodyPr/>
          <a:lstStyle/>
          <a:p>
            <a:pPr>
              <a:defRPr sz="1500">
                <a:solidFill>
                  <a:srgbClr val="4D3727"/>
                </a:solidFill>
              </a:defRPr>
            </a:pPr>
            <a:endParaRPr lang="en-US"/>
          </a:p>
        </c:txPr>
        <c:crossAx val="-2113994440"/>
        <c:crosses val="autoZero"/>
        <c:auto val="1"/>
        <c:lblAlgn val="ctr"/>
        <c:lblOffset val="100"/>
        <c:noMultiLvlLbl val="0"/>
      </c:catAx>
      <c:valAx>
        <c:axId val="-2113994440"/>
        <c:scaling>
          <c:orientation val="minMax"/>
          <c:max val="32"/>
          <c:min val="0"/>
        </c:scaling>
        <c:delete val="1"/>
        <c:axPos val="l"/>
        <c:numFmt formatCode="General"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1500">
          <a:solidFill>
            <a:srgbClr val="4D372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800" b="1">
                <a:solidFill>
                  <a:srgbClr val="5C3B25"/>
                </a:solidFill>
                <a:latin typeface="Cambria"/>
              </a:rPr>
              <a:t>Number of Classes by Crop</a:t>
            </a:r>
          </a:p>
        </c:rich>
      </c:tx>
      <c:overlay val="0"/>
    </c:title>
    <c:autoTitleDeleted val="0"/>
    <c:plotArea>
      <c:layout/>
      <c:barChart>
        <c:barDir val="bar"/>
        <c:grouping val="clustered"/>
        <c:varyColors val="0"/>
        <c:ser>
          <c:idx val="0"/>
          <c:order val="0"/>
          <c:tx>
            <c:strRef>
              <c:f>Sheet1!$B$1</c:f>
              <c:strCache>
                <c:ptCount val="1"/>
                <c:pt idx="0">
                  <c:v>Value</c:v>
                </c:pt>
              </c:strCache>
            </c:strRef>
          </c:tx>
          <c:spPr>
            <a:solidFill>
              <a:srgbClr val="5E8C61"/>
            </a:solidFill>
          </c:spPr>
          <c:invertIfNegative val="1"/>
          <c:dLbls>
            <c:numFmt formatCode="0" sourceLinked="0"/>
            <c:spPr>
              <a:noFill/>
              <a:ln>
                <a:noFill/>
              </a:ln>
              <a:effectLst/>
            </c:spPr>
            <c:txPr>
              <a:bodyPr/>
              <a:lstStyle/>
              <a:p>
                <a:pPr>
                  <a:defRPr sz="1700" b="1">
                    <a:solidFill>
                      <a:srgbClr val="4D37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Tomato</c:v>
                </c:pt>
                <c:pt idx="1">
                  <c:v>Apple</c:v>
                </c:pt>
                <c:pt idx="2">
                  <c:v>Grape</c:v>
                </c:pt>
                <c:pt idx="3">
                  <c:v>Corn</c:v>
                </c:pt>
                <c:pt idx="4">
                  <c:v>Potato</c:v>
                </c:pt>
                <c:pt idx="5">
                  <c:v>Cherry</c:v>
                </c:pt>
                <c:pt idx="6">
                  <c:v>Peach</c:v>
                </c:pt>
                <c:pt idx="7">
                  <c:v>Bell pepper</c:v>
                </c:pt>
                <c:pt idx="8">
                  <c:v>Strawberry</c:v>
                </c:pt>
                <c:pt idx="9">
                  <c:v>Orange</c:v>
                </c:pt>
                <c:pt idx="10">
                  <c:v>Squash</c:v>
                </c:pt>
                <c:pt idx="11">
                  <c:v>Blueberry</c:v>
                </c:pt>
                <c:pt idx="12">
                  <c:v>Raspberry</c:v>
                </c:pt>
                <c:pt idx="13">
                  <c:v>Soybean</c:v>
                </c:pt>
              </c:strCache>
            </c:strRef>
          </c:cat>
          <c:val>
            <c:numRef>
              <c:f>Sheet1!$B$2:$B$15</c:f>
              <c:numCache>
                <c:formatCode>General</c:formatCode>
                <c:ptCount val="14"/>
                <c:pt idx="0">
                  <c:v>10</c:v>
                </c:pt>
                <c:pt idx="1">
                  <c:v>4</c:v>
                </c:pt>
                <c:pt idx="2">
                  <c:v>4</c:v>
                </c:pt>
                <c:pt idx="3">
                  <c:v>4</c:v>
                </c:pt>
                <c:pt idx="4">
                  <c:v>3</c:v>
                </c:pt>
                <c:pt idx="5">
                  <c:v>2</c:v>
                </c:pt>
                <c:pt idx="6">
                  <c:v>2</c:v>
                </c:pt>
                <c:pt idx="7">
                  <c:v>2</c:v>
                </c:pt>
                <c:pt idx="8">
                  <c:v>2</c:v>
                </c:pt>
                <c:pt idx="9">
                  <c:v>1</c:v>
                </c:pt>
                <c:pt idx="10">
                  <c:v>1</c:v>
                </c:pt>
                <c:pt idx="11">
                  <c:v>1</c:v>
                </c:pt>
                <c:pt idx="12">
                  <c:v>1</c:v>
                </c:pt>
                <c:pt idx="13">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A78-4383-810A-08F24F13C0B0}"/>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A6916D"/>
            </a:solidFill>
          </a:ln>
        </c:spPr>
        <c:txPr>
          <a:bodyPr/>
          <a:lstStyle/>
          <a:p>
            <a:pPr>
              <a:defRPr sz="1500">
                <a:solidFill>
                  <a:srgbClr val="4D3727"/>
                </a:solidFill>
              </a:defRPr>
            </a:pPr>
            <a:endParaRPr lang="en-US"/>
          </a:p>
        </c:txPr>
        <c:crossAx val="-2113994440"/>
        <c:crosses val="autoZero"/>
        <c:auto val="1"/>
        <c:lblAlgn val="ctr"/>
        <c:lblOffset val="100"/>
        <c:noMultiLvlLbl val="0"/>
      </c:catAx>
      <c:valAx>
        <c:axId val="-2113994440"/>
        <c:scaling>
          <c:orientation val="minMax"/>
          <c:max val="12"/>
          <c:min val="0"/>
        </c:scaling>
        <c:delete val="1"/>
        <c:axPos val="t"/>
        <c:numFmt formatCode="General"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1500">
          <a:solidFill>
            <a:srgbClr val="4D372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800" b="1">
                <a:solidFill>
                  <a:srgbClr val="5C3B25"/>
                </a:solidFill>
                <a:latin typeface="Cambria"/>
              </a:rPr>
              <a:t>Model accuracy (%)</a:t>
            </a:r>
          </a:p>
        </c:rich>
      </c:tx>
      <c:overlay val="0"/>
    </c:title>
    <c:autoTitleDeleted val="0"/>
    <c:plotArea>
      <c:layout/>
      <c:barChart>
        <c:barDir val="col"/>
        <c:grouping val="clustered"/>
        <c:varyColors val="0"/>
        <c:ser>
          <c:idx val="0"/>
          <c:order val="0"/>
          <c:tx>
            <c:strRef>
              <c:f>Sheet1!$B$1</c:f>
              <c:strCache>
                <c:ptCount val="1"/>
                <c:pt idx="0">
                  <c:v>Value</c:v>
                </c:pt>
              </c:strCache>
            </c:strRef>
          </c:tx>
          <c:spPr>
            <a:solidFill>
              <a:srgbClr val="5E8C61"/>
            </a:solidFill>
          </c:spPr>
          <c:invertIfNegative val="1"/>
          <c:dPt>
            <c:idx val="0"/>
            <c:invertIfNegative val="1"/>
            <c:bubble3D val="0"/>
            <c:extLst>
              <c:ext xmlns:c16="http://schemas.microsoft.com/office/drawing/2014/chart" uri="{C3380CC4-5D6E-409C-BE32-E72D297353CC}">
                <c16:uniqueId val="{00000001-05DF-4274-A447-111C2FCEC903}"/>
              </c:ext>
            </c:extLst>
          </c:dPt>
          <c:dPt>
            <c:idx val="1"/>
            <c:invertIfNegative val="1"/>
            <c:bubble3D val="0"/>
            <c:spPr>
              <a:solidFill>
                <a:srgbClr val="C9B58A"/>
              </a:solidFill>
            </c:spPr>
            <c:extLst>
              <c:ext xmlns:c16="http://schemas.microsoft.com/office/drawing/2014/chart" uri="{C3380CC4-5D6E-409C-BE32-E72D297353CC}">
                <c16:uniqueId val="{00000003-05DF-4274-A447-111C2FCEC903}"/>
              </c:ext>
            </c:extLst>
          </c:dPt>
          <c:dPt>
            <c:idx val="2"/>
            <c:invertIfNegative val="1"/>
            <c:bubble3D val="0"/>
            <c:spPr>
              <a:solidFill>
                <a:srgbClr val="7FB3A5"/>
              </a:solidFill>
            </c:spPr>
            <c:extLst>
              <c:ext xmlns:c16="http://schemas.microsoft.com/office/drawing/2014/chart" uri="{C3380CC4-5D6E-409C-BE32-E72D297353CC}">
                <c16:uniqueId val="{00000005-05DF-4274-A447-111C2FCEC903}"/>
              </c:ext>
            </c:extLst>
          </c:dPt>
          <c:dLbls>
            <c:numFmt formatCode="0&quot;%&quot;" sourceLinked="0"/>
            <c:spPr>
              <a:noFill/>
              <a:ln>
                <a:noFill/>
              </a:ln>
              <a:effectLst/>
            </c:spPr>
            <c:txPr>
              <a:bodyPr/>
              <a:lstStyle/>
              <a:p>
                <a:pPr>
                  <a:defRPr sz="2200" b="1">
                    <a:solidFill>
                      <a:srgbClr val="4D37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MobileNetV2</c:v>
                </c:pt>
                <c:pt idx="1">
                  <c:v>DenseNet121</c:v>
                </c:pt>
                <c:pt idx="2">
                  <c:v>EfficientNetB0</c:v>
                </c:pt>
              </c:strCache>
            </c:strRef>
          </c:cat>
          <c:val>
            <c:numRef>
              <c:f>Sheet1!$B$2:$B$4</c:f>
              <c:numCache>
                <c:formatCode>General</c:formatCode>
                <c:ptCount val="3"/>
                <c:pt idx="0">
                  <c:v>97</c:v>
                </c:pt>
                <c:pt idx="1">
                  <c:v>94</c:v>
                </c:pt>
                <c:pt idx="2">
                  <c:v>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5DF-4274-A447-111C2FCEC903}"/>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A6916D"/>
            </a:solidFill>
          </a:ln>
        </c:spPr>
        <c:txPr>
          <a:bodyPr/>
          <a:lstStyle/>
          <a:p>
            <a:pPr>
              <a:defRPr sz="2000">
                <a:solidFill>
                  <a:srgbClr val="4D3727"/>
                </a:solidFill>
              </a:defRPr>
            </a:pPr>
            <a:endParaRPr lang="en-US"/>
          </a:p>
        </c:txPr>
        <c:crossAx val="-2113994440"/>
        <c:crosses val="autoZero"/>
        <c:auto val="1"/>
        <c:lblAlgn val="ctr"/>
        <c:lblOffset val="100"/>
        <c:noMultiLvlLbl val="0"/>
      </c:catAx>
      <c:valAx>
        <c:axId val="-2113994440"/>
        <c:scaling>
          <c:orientation val="minMax"/>
          <c:max val="112"/>
          <c:min val="0"/>
        </c:scaling>
        <c:delete val="1"/>
        <c:axPos val="l"/>
        <c:numFmt formatCode="General"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2000">
          <a:solidFill>
            <a:srgbClr val="4D3727"/>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15" name="Picture 14" descr="wide_minimalist_clean_background_image_a_soft.png"/>
          <p:cNvPicPr>
            <a:picLocks noChangeAspect="1"/>
          </p:cNvPicPr>
          <p:nvPr/>
        </p:nvPicPr>
        <p:blipFill>
          <a:blip r:embed="rId2"/>
          <a:stretch>
            <a:fillRect/>
          </a:stretch>
        </p:blipFill>
        <p:spPr>
          <a:xfrm>
            <a:off x="0" y="19259"/>
            <a:ext cx="12191695" cy="6858000"/>
          </a:xfrm>
          <a:prstGeom prst="rect">
            <a:avLst/>
          </a:prstGeom>
        </p:spPr>
      </p:pic>
      <p:pic>
        <p:nvPicPr>
          <p:cNvPr id="16" name="Picture 15" descr="leaf_01.png"/>
          <p:cNvPicPr>
            <a:picLocks noChangeAspect="1"/>
          </p:cNvPicPr>
          <p:nvPr/>
        </p:nvPicPr>
        <p:blipFill>
          <a:blip r:embed="rId3"/>
          <a:stretch>
            <a:fillRect/>
          </a:stretch>
        </p:blipFill>
        <p:spPr>
          <a:xfrm>
            <a:off x="10927080" y="530352"/>
            <a:ext cx="658368" cy="475488"/>
          </a:xfrm>
          <a:prstGeom prst="rect">
            <a:avLst/>
          </a:prstGeom>
        </p:spPr>
      </p:pic>
      <p:sp>
        <p:nvSpPr>
          <p:cNvPr id="17" name="TextBox 16"/>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CAPSTONE PROJECT  |  PLANTRX</a:t>
            </a:r>
          </a:p>
        </p:txBody>
      </p:sp>
      <p:sp>
        <p:nvSpPr>
          <p:cNvPr id="18" name="TextBox 17"/>
          <p:cNvSpPr txBox="1"/>
          <p:nvPr/>
        </p:nvSpPr>
        <p:spPr>
          <a:xfrm>
            <a:off x="713232" y="330409"/>
            <a:ext cx="7680960" cy="1600200"/>
          </a:xfrm>
          <a:prstGeom prst="rect">
            <a:avLst/>
          </a:prstGeom>
          <a:noFill/>
        </p:spPr>
        <p:txBody>
          <a:bodyPr wrap="square" lIns="73152" tIns="27432" rIns="73152" bIns="27432" anchor="ctr">
            <a:noAutofit/>
          </a:bodyPr>
          <a:lstStyle/>
          <a:p>
            <a:pPr algn="l">
              <a:lnSpc>
                <a:spcPct val="95000"/>
              </a:lnSpc>
              <a:spcAft>
                <a:spcPts val="600"/>
              </a:spcAft>
            </a:pPr>
            <a:r>
              <a:rPr sz="4600" b="1" i="0" dirty="0">
                <a:solidFill>
                  <a:srgbClr val="5C3B25"/>
                </a:solidFill>
                <a:latin typeface="Cambria"/>
              </a:rPr>
              <a:t>Plant Disease Detection System</a:t>
            </a:r>
          </a:p>
        </p:txBody>
      </p:sp>
      <p:sp>
        <p:nvSpPr>
          <p:cNvPr id="19" name="TextBox 18"/>
          <p:cNvSpPr txBox="1"/>
          <p:nvPr/>
        </p:nvSpPr>
        <p:spPr>
          <a:xfrm>
            <a:off x="713232" y="2062584"/>
            <a:ext cx="9601200" cy="914400"/>
          </a:xfrm>
          <a:prstGeom prst="rect">
            <a:avLst/>
          </a:prstGeom>
          <a:noFill/>
        </p:spPr>
        <p:txBody>
          <a:bodyPr wrap="square" lIns="73152" tIns="27432" rIns="73152" bIns="27432" anchor="t">
            <a:noAutofit/>
          </a:bodyPr>
          <a:lstStyle/>
          <a:p>
            <a:pPr algn="l">
              <a:lnSpc>
                <a:spcPct val="112000"/>
              </a:lnSpc>
              <a:spcAft>
                <a:spcPts val="600"/>
              </a:spcAft>
            </a:pPr>
            <a:r>
              <a:rPr sz="2400" b="1" i="0" dirty="0" err="1">
                <a:solidFill>
                  <a:srgbClr val="4D3727"/>
                </a:solidFill>
                <a:latin typeface="Cambria"/>
              </a:rPr>
              <a:t>PlantRx</a:t>
            </a:r>
            <a:r>
              <a:rPr sz="2400" b="1" i="0" dirty="0">
                <a:solidFill>
                  <a:srgbClr val="4D3727"/>
                </a:solidFill>
                <a:latin typeface="Cambria"/>
              </a:rPr>
              <a:t> — Deep Learning-Based Leaf Disease Classification and Guidance</a:t>
            </a:r>
          </a:p>
        </p:txBody>
      </p:sp>
      <p:sp>
        <p:nvSpPr>
          <p:cNvPr id="20" name="TextBox 19"/>
          <p:cNvSpPr txBox="1"/>
          <p:nvPr/>
        </p:nvSpPr>
        <p:spPr>
          <a:xfrm>
            <a:off x="890927" y="3469537"/>
            <a:ext cx="7223760" cy="822960"/>
          </a:xfrm>
          <a:prstGeom prst="rect">
            <a:avLst/>
          </a:prstGeom>
          <a:noFill/>
        </p:spPr>
        <p:txBody>
          <a:bodyPr wrap="square" lIns="73152" tIns="27432" rIns="73152" bIns="27432" anchor="t">
            <a:noAutofit/>
          </a:bodyPr>
          <a:lstStyle/>
          <a:p>
            <a:pPr algn="l">
              <a:lnSpc>
                <a:spcPct val="112000"/>
              </a:lnSpc>
              <a:spcAft>
                <a:spcPts val="300"/>
              </a:spcAft>
            </a:pPr>
            <a:r>
              <a:rPr sz="2000" b="1" i="0" dirty="0">
                <a:solidFill>
                  <a:srgbClr val="4D3727"/>
                </a:solidFill>
                <a:latin typeface="Calibri"/>
              </a:rPr>
              <a:t>M.Sc. Applied Data Science</a:t>
            </a:r>
            <a:endParaRPr lang="en-US" sz="2000" b="1" i="0" dirty="0">
              <a:solidFill>
                <a:srgbClr val="4D3727"/>
              </a:solidFill>
              <a:latin typeface="Calibri"/>
            </a:endParaRPr>
          </a:p>
          <a:p>
            <a:pPr>
              <a:lnSpc>
                <a:spcPct val="112000"/>
              </a:lnSpc>
              <a:spcAft>
                <a:spcPts val="300"/>
              </a:spcAft>
            </a:pPr>
            <a:r>
              <a:rPr lang="en-US" sz="2000" dirty="0">
                <a:solidFill>
                  <a:srgbClr val="4D3727"/>
                </a:solidFill>
              </a:rPr>
              <a:t>SRM Institute of Science and Technology</a:t>
            </a:r>
          </a:p>
          <a:p>
            <a:pPr algn="l">
              <a:lnSpc>
                <a:spcPct val="112000"/>
              </a:lnSpc>
              <a:spcAft>
                <a:spcPts val="300"/>
              </a:spcAft>
            </a:pPr>
            <a:endParaRPr lang="en-IN" sz="1600" b="1" dirty="0">
              <a:solidFill>
                <a:srgbClr val="4D3727"/>
              </a:solidFill>
              <a:latin typeface="Calibri"/>
            </a:endParaRPr>
          </a:p>
          <a:p>
            <a:pPr algn="l">
              <a:lnSpc>
                <a:spcPct val="112000"/>
              </a:lnSpc>
              <a:spcAft>
                <a:spcPts val="300"/>
              </a:spcAft>
            </a:pPr>
            <a:r>
              <a:rPr lang="en-IN" sz="1600" b="1" dirty="0">
                <a:solidFill>
                  <a:srgbClr val="4D3727"/>
                </a:solidFill>
                <a:latin typeface="Calibri"/>
              </a:rPr>
              <a:t>Om Desai (</a:t>
            </a:r>
            <a:r>
              <a:rPr lang="en-IN" sz="1600" dirty="0">
                <a:solidFill>
                  <a:srgbClr val="4D3727"/>
                </a:solidFill>
                <a:latin typeface="Calibri"/>
              </a:rPr>
              <a:t>RA2532014010138</a:t>
            </a:r>
            <a:r>
              <a:rPr lang="en-IN" sz="1600" b="1" dirty="0">
                <a:solidFill>
                  <a:srgbClr val="4D3727"/>
                </a:solidFill>
                <a:latin typeface="Calibri"/>
              </a:rPr>
              <a:t>)</a:t>
            </a:r>
          </a:p>
          <a:p>
            <a:pPr>
              <a:lnSpc>
                <a:spcPct val="112000"/>
              </a:lnSpc>
              <a:spcAft>
                <a:spcPts val="300"/>
              </a:spcAft>
            </a:pPr>
            <a:r>
              <a:rPr lang="en-IN" sz="1600" b="1" dirty="0">
                <a:solidFill>
                  <a:srgbClr val="4D3727"/>
                </a:solidFill>
                <a:latin typeface="Calibri"/>
              </a:rPr>
              <a:t>S</a:t>
            </a:r>
            <a:r>
              <a:rPr lang="en-IN" sz="1600" b="1" i="0" dirty="0">
                <a:solidFill>
                  <a:srgbClr val="4D3727"/>
                </a:solidFill>
                <a:latin typeface="Calibri"/>
              </a:rPr>
              <a:t>anket Kurmi </a:t>
            </a:r>
            <a:r>
              <a:rPr lang="en-IN" sz="1600" b="1" dirty="0">
                <a:solidFill>
                  <a:srgbClr val="4D3727"/>
                </a:solidFill>
              </a:rPr>
              <a:t>(</a:t>
            </a:r>
            <a:r>
              <a:rPr lang="en-IN" sz="1600" dirty="0">
                <a:solidFill>
                  <a:srgbClr val="4D3727"/>
                </a:solidFill>
              </a:rPr>
              <a:t>RA2532014010156</a:t>
            </a:r>
            <a:r>
              <a:rPr lang="en-IN" sz="1600" b="1" dirty="0">
                <a:solidFill>
                  <a:srgbClr val="4D3727"/>
                </a:solidFill>
              </a:rPr>
              <a:t>)</a:t>
            </a:r>
            <a:endParaRPr lang="en-IN" sz="1600" b="1" i="0" dirty="0">
              <a:solidFill>
                <a:srgbClr val="4D3727"/>
              </a:solidFill>
              <a:latin typeface="Calibri"/>
            </a:endParaRPr>
          </a:p>
          <a:p>
            <a:pPr>
              <a:lnSpc>
                <a:spcPct val="112000"/>
              </a:lnSpc>
              <a:spcAft>
                <a:spcPts val="300"/>
              </a:spcAft>
            </a:pPr>
            <a:r>
              <a:rPr lang="en-IN" sz="1600" b="1" i="0" dirty="0">
                <a:solidFill>
                  <a:srgbClr val="4D3727"/>
                </a:solidFill>
                <a:latin typeface="Calibri"/>
              </a:rPr>
              <a:t>Abhirup Urinda </a:t>
            </a:r>
            <a:r>
              <a:rPr lang="en-IN" sz="1600" b="1" dirty="0">
                <a:solidFill>
                  <a:srgbClr val="4D3727"/>
                </a:solidFill>
              </a:rPr>
              <a:t>(</a:t>
            </a:r>
            <a:r>
              <a:rPr lang="en-IN" sz="1600" dirty="0">
                <a:solidFill>
                  <a:srgbClr val="4D3727"/>
                </a:solidFill>
              </a:rPr>
              <a:t>RA2532014010160</a:t>
            </a:r>
            <a:r>
              <a:rPr lang="en-IN" sz="1600" b="1" dirty="0">
                <a:solidFill>
                  <a:srgbClr val="4D3727"/>
                </a:solidFill>
              </a:rPr>
              <a:t>)</a:t>
            </a:r>
            <a:endParaRPr lang="en-IN" sz="1600" b="1" i="0" dirty="0">
              <a:solidFill>
                <a:srgbClr val="4D3727"/>
              </a:solidFill>
              <a:latin typeface="Calibri"/>
            </a:endParaRPr>
          </a:p>
          <a:p>
            <a:pPr>
              <a:lnSpc>
                <a:spcPct val="112000"/>
              </a:lnSpc>
              <a:spcAft>
                <a:spcPts val="300"/>
              </a:spcAft>
            </a:pPr>
            <a:r>
              <a:rPr lang="en-IN" sz="1600" b="1" dirty="0">
                <a:solidFill>
                  <a:srgbClr val="4D3727"/>
                </a:solidFill>
                <a:latin typeface="Calibri"/>
              </a:rPr>
              <a:t>Sourish Haldar </a:t>
            </a:r>
            <a:r>
              <a:rPr lang="en-IN" sz="1600" b="1" dirty="0">
                <a:solidFill>
                  <a:srgbClr val="4D3727"/>
                </a:solidFill>
              </a:rPr>
              <a:t>(</a:t>
            </a:r>
            <a:r>
              <a:rPr lang="en-IN" sz="1600" dirty="0">
                <a:solidFill>
                  <a:srgbClr val="4D3727"/>
                </a:solidFill>
              </a:rPr>
              <a:t>RA2532014010161</a:t>
            </a:r>
            <a:r>
              <a:rPr lang="en-IN" sz="1600" b="1" dirty="0">
                <a:solidFill>
                  <a:srgbClr val="4D3727"/>
                </a:solidFill>
              </a:rPr>
              <a:t>)</a:t>
            </a:r>
            <a:endParaRPr lang="en-US" sz="1600" b="1" i="0" dirty="0">
              <a:solidFill>
                <a:srgbClr val="4D3727"/>
              </a:solidFill>
              <a:latin typeface="Calibri"/>
            </a:endParaRPr>
          </a:p>
        </p:txBody>
      </p:sp>
      <p:sp>
        <p:nvSpPr>
          <p:cNvPr id="21" name="TextBox 20"/>
          <p:cNvSpPr txBox="1"/>
          <p:nvPr/>
        </p:nvSpPr>
        <p:spPr>
          <a:xfrm>
            <a:off x="713232" y="2803624"/>
            <a:ext cx="7223760" cy="731520"/>
          </a:xfrm>
          <a:prstGeom prst="rect">
            <a:avLst/>
          </a:prstGeom>
          <a:noFill/>
        </p:spPr>
        <p:txBody>
          <a:bodyPr wrap="square" lIns="73152" tIns="27432" rIns="73152" bIns="27432" anchor="t">
            <a:noAutofit/>
          </a:bodyPr>
          <a:lstStyle/>
          <a:p>
            <a:pPr algn="l">
              <a:lnSpc>
                <a:spcPct val="112000"/>
              </a:lnSpc>
              <a:spcAft>
                <a:spcPts val="600"/>
              </a:spcAft>
            </a:pPr>
            <a:r>
              <a:rPr sz="1700" b="0" i="1" dirty="0">
                <a:solidFill>
                  <a:srgbClr val="4D3727"/>
                </a:solidFill>
                <a:latin typeface="Calibri"/>
              </a:rPr>
              <a:t>A browser-based first-level support tool for identifying supported leaf classes.</a:t>
            </a:r>
          </a:p>
        </p:txBody>
      </p:sp>
      <p:sp>
        <p:nvSpPr>
          <p:cNvPr id="22"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23"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a:solidFill>
                  <a:srgbClr val="4D3727"/>
                </a:solidFill>
                <a:latin typeface="Calibri"/>
              </a:rPr>
              <a:t>01</a:t>
            </a:r>
          </a:p>
        </p:txBody>
      </p:sp>
      <p:sp>
        <p:nvSpPr>
          <p:cNvPr id="2" name="TextBox 1">
            <a:extLst>
              <a:ext uri="{FF2B5EF4-FFF2-40B4-BE49-F238E27FC236}">
                <a16:creationId xmlns:a16="http://schemas.microsoft.com/office/drawing/2014/main" id="{B013015B-0AA6-5CE5-852A-015BA876BEE4}"/>
              </a:ext>
            </a:extLst>
          </p:cNvPr>
          <p:cNvSpPr txBox="1"/>
          <p:nvPr/>
        </p:nvSpPr>
        <p:spPr>
          <a:xfrm>
            <a:off x="6447086" y="4461884"/>
            <a:ext cx="3070540" cy="646331"/>
          </a:xfrm>
          <a:prstGeom prst="rect">
            <a:avLst/>
          </a:prstGeom>
          <a:noFill/>
        </p:spPr>
        <p:txBody>
          <a:bodyPr wrap="square" rtlCol="0">
            <a:spAutoFit/>
          </a:bodyPr>
          <a:lstStyle/>
          <a:p>
            <a:r>
              <a:rPr lang="en-US" b="1" dirty="0">
                <a:solidFill>
                  <a:schemeClr val="bg2">
                    <a:lumMod val="25000"/>
                  </a:schemeClr>
                </a:solidFill>
              </a:rPr>
              <a:t>Mentor : </a:t>
            </a:r>
            <a:r>
              <a:rPr lang="en-US" dirty="0"/>
              <a:t>Dr. </a:t>
            </a:r>
            <a:r>
              <a:rPr lang="en-US" dirty="0" err="1"/>
              <a:t>S.Sivakumar</a:t>
            </a:r>
            <a:endParaRPr lang="en-US" dirty="0"/>
          </a:p>
          <a:p>
            <a:r>
              <a:rPr lang="en-US" dirty="0"/>
              <a:t>                (Associate Professor)</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CED977-FE14-87B5-8C76-358139A574BC}"/>
              </a:ext>
            </a:extLst>
          </p:cNvPr>
          <p:cNvPicPr>
            <a:picLocks noChangeAspect="1"/>
          </p:cNvPicPr>
          <p:nvPr/>
        </p:nvPicPr>
        <p:blipFill>
          <a:blip r:embed="rId2"/>
          <a:stretch>
            <a:fillRect/>
          </a:stretch>
        </p:blipFill>
        <p:spPr>
          <a:xfrm>
            <a:off x="0" y="19664"/>
            <a:ext cx="12192000" cy="6857999"/>
          </a:xfrm>
          <a:prstGeom prst="rect">
            <a:avLst/>
          </a:prstGeom>
        </p:spPr>
      </p:pic>
      <p:pic>
        <p:nvPicPr>
          <p:cNvPr id="5" name="Picture 4">
            <a:extLst>
              <a:ext uri="{FF2B5EF4-FFF2-40B4-BE49-F238E27FC236}">
                <a16:creationId xmlns:a16="http://schemas.microsoft.com/office/drawing/2014/main" id="{289BF4DC-4B26-9075-5E9B-FD5349AC3550}"/>
              </a:ext>
            </a:extLst>
          </p:cNvPr>
          <p:cNvPicPr>
            <a:picLocks noChangeAspect="1"/>
          </p:cNvPicPr>
          <p:nvPr/>
        </p:nvPicPr>
        <p:blipFill>
          <a:blip r:embed="rId3"/>
          <a:stretch>
            <a:fillRect/>
          </a:stretch>
        </p:blipFill>
        <p:spPr>
          <a:xfrm>
            <a:off x="750869" y="1293611"/>
            <a:ext cx="10659781" cy="3672498"/>
          </a:xfrm>
          <a:prstGeom prst="rect">
            <a:avLst/>
          </a:prstGeom>
        </p:spPr>
      </p:pic>
      <p:sp>
        <p:nvSpPr>
          <p:cNvPr id="6" name="TextBox 5">
            <a:extLst>
              <a:ext uri="{FF2B5EF4-FFF2-40B4-BE49-F238E27FC236}">
                <a16:creationId xmlns:a16="http://schemas.microsoft.com/office/drawing/2014/main" id="{59CCCC22-FFE6-2451-BB7A-49B0E9CD13C8}"/>
              </a:ext>
            </a:extLst>
          </p:cNvPr>
          <p:cNvSpPr txBox="1"/>
          <p:nvPr/>
        </p:nvSpPr>
        <p:spPr>
          <a:xfrm>
            <a:off x="1207308" y="1945616"/>
            <a:ext cx="9746901" cy="2585323"/>
          </a:xfrm>
          <a:prstGeom prst="rect">
            <a:avLst/>
          </a:prstGeom>
          <a:noFill/>
        </p:spPr>
        <p:txBody>
          <a:bodyPr wrap="square" rtlCol="0">
            <a:spAutoFit/>
          </a:bodyPr>
          <a:lstStyle/>
          <a:p>
            <a:pPr algn="just"/>
            <a:r>
              <a:rPr lang="en-US" dirty="0" err="1"/>
              <a:t>PlantRx</a:t>
            </a:r>
            <a:r>
              <a:rPr lang="en-US" dirty="0"/>
              <a:t> AI helps address crop losses by detecting plant diseases from leaf images and recommending practical care. Using 54,284 PlantVillage images across 38 classes and 14 crops, we evaluated three pretrained models. MobileNetV2 achieved approximately 97% test accuracy and was selected for its speed and lightweight design; DenseNet121 achieved 94%, while EfficientNetB0 reached 85.76% on a smaller 22-class subset. Integrated with a remedy database, the React and </a:t>
            </a:r>
            <a:r>
              <a:rPr lang="en-US" dirty="0" err="1"/>
              <a:t>FastAPI</a:t>
            </a:r>
            <a:r>
              <a:rPr lang="en-US" dirty="0"/>
              <a:t> web app provides disease predictions, confidence scores, symptoms, treatment and prevention advice, weather-based tips, and FAQ support. </a:t>
            </a:r>
            <a:r>
              <a:rPr lang="en-US" dirty="0" err="1"/>
              <a:t>PlantRx</a:t>
            </a:r>
            <a:r>
              <a:rPr lang="en-US" dirty="0"/>
              <a:t> AI aims to help users act earlier and make more informed plant-care decisions.</a:t>
            </a:r>
          </a:p>
          <a:p>
            <a:pPr algn="just"/>
            <a:endParaRPr lang="en-IN" dirty="0"/>
          </a:p>
        </p:txBody>
      </p:sp>
      <p:sp>
        <p:nvSpPr>
          <p:cNvPr id="9" name="TextBox 8">
            <a:extLst>
              <a:ext uri="{FF2B5EF4-FFF2-40B4-BE49-F238E27FC236}">
                <a16:creationId xmlns:a16="http://schemas.microsoft.com/office/drawing/2014/main" id="{166C7106-9772-8AC6-1661-C2774509B1E8}"/>
              </a:ext>
            </a:extLst>
          </p:cNvPr>
          <p:cNvSpPr txBox="1"/>
          <p:nvPr/>
        </p:nvSpPr>
        <p:spPr>
          <a:xfrm>
            <a:off x="594360" y="347472"/>
            <a:ext cx="10972800" cy="438912"/>
          </a:xfrm>
          <a:prstGeom prst="rect">
            <a:avLst/>
          </a:prstGeom>
          <a:noFill/>
        </p:spPr>
        <p:txBody>
          <a:bodyPr wrap="none">
            <a:spAutoFit/>
          </a:bodyPr>
          <a:lstStyle/>
          <a:p>
            <a:pPr>
              <a:defRPr sz="2600" b="1">
                <a:solidFill>
                  <a:srgbClr val="43694B"/>
                </a:solidFill>
                <a:latin typeface="Aptos Display"/>
              </a:defRPr>
            </a:pPr>
            <a:r>
              <a:rPr dirty="0"/>
              <a:t>ABSTRACT</a:t>
            </a:r>
          </a:p>
        </p:txBody>
      </p:sp>
      <p:sp>
        <p:nvSpPr>
          <p:cNvPr id="11" name="Kicker">
            <a:extLst>
              <a:ext uri="{FF2B5EF4-FFF2-40B4-BE49-F238E27FC236}">
                <a16:creationId xmlns:a16="http://schemas.microsoft.com/office/drawing/2014/main" id="{FA0156CE-4E5E-DF85-55D5-F258F72ED570}"/>
              </a:ext>
            </a:extLst>
          </p:cNvPr>
          <p:cNvSpPr txBox="1"/>
          <p:nvPr/>
        </p:nvSpPr>
        <p:spPr>
          <a:xfrm>
            <a:off x="594360" y="826517"/>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dirty="0">
                <a:solidFill>
                  <a:srgbClr val="4D3727"/>
                </a:solidFill>
                <a:latin typeface="Calibri"/>
              </a:rPr>
              <a:t>PLANT RX  |  M.SC. APPLIED DATA SCIENCE</a:t>
            </a:r>
          </a:p>
        </p:txBody>
      </p:sp>
    </p:spTree>
    <p:extLst>
      <p:ext uri="{BB962C8B-B14F-4D97-AF65-F5344CB8AC3E}">
        <p14:creationId xmlns:p14="http://schemas.microsoft.com/office/powerpoint/2010/main" val="267720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20" name="Picture 19"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21" name="Picture 20" descr="leaf_02.png"/>
          <p:cNvPicPr>
            <a:picLocks noChangeAspect="1"/>
          </p:cNvPicPr>
          <p:nvPr/>
        </p:nvPicPr>
        <p:blipFill>
          <a:blip r:embed="rId3"/>
          <a:stretch>
            <a:fillRect/>
          </a:stretch>
        </p:blipFill>
        <p:spPr>
          <a:xfrm>
            <a:off x="10927080" y="530352"/>
            <a:ext cx="658368" cy="475488"/>
          </a:xfrm>
          <a:prstGeom prst="rect">
            <a:avLst/>
          </a:prstGeom>
        </p:spPr>
      </p:pic>
      <p:sp>
        <p:nvSpPr>
          <p:cNvPr id="22"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23"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Introduction and Problem Statement</a:t>
            </a:r>
          </a:p>
        </p:txBody>
      </p:sp>
      <p:sp>
        <p:nvSpPr>
          <p:cNvPr id="24"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25"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a:solidFill>
                  <a:srgbClr val="4D3727"/>
                </a:solidFill>
                <a:latin typeface="Calibri"/>
              </a:rPr>
              <a:t>02</a:t>
            </a:r>
          </a:p>
        </p:txBody>
      </p:sp>
      <p:sp>
        <p:nvSpPr>
          <p:cNvPr id="26" name="Rounded Rectangle 25"/>
          <p:cNvSpPr/>
          <p:nvPr/>
        </p:nvSpPr>
        <p:spPr>
          <a:xfrm>
            <a:off x="640080" y="1325880"/>
            <a:ext cx="3520440" cy="3429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1435607"/>
            <a:ext cx="64008" cy="320954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7" y="1463040"/>
            <a:ext cx="320040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Why it matters</a:t>
            </a:r>
          </a:p>
        </p:txBody>
      </p:sp>
      <p:sp>
        <p:nvSpPr>
          <p:cNvPr id="29" name="TextBox 28"/>
          <p:cNvSpPr txBox="1"/>
          <p:nvPr/>
        </p:nvSpPr>
        <p:spPr>
          <a:xfrm>
            <a:off x="841247" y="2011680"/>
            <a:ext cx="3200400" cy="2651760"/>
          </a:xfrm>
          <a:prstGeom prst="rect">
            <a:avLst/>
          </a:prstGeom>
          <a:noFill/>
        </p:spPr>
        <p:txBody>
          <a:bodyPr wrap="square" lIns="73152" tIns="27432" rIns="73152" bIns="27432" anchor="t">
            <a:noAutofit/>
          </a:bodyPr>
          <a:lstStyle/>
          <a:p>
            <a:pPr marL="246888" indent="-246888" algn="l">
              <a:lnSpc>
                <a:spcPct val="112000"/>
              </a:lnSpc>
              <a:spcAft>
                <a:spcPts val="1300"/>
              </a:spcAft>
              <a:buClr>
                <a:srgbClr val="2B5B3A"/>
              </a:buClr>
              <a:buFont typeface="Arial"/>
              <a:buChar char="•"/>
            </a:pPr>
            <a:r>
              <a:rPr sz="1800" b="0" i="0" dirty="0">
                <a:solidFill>
                  <a:srgbClr val="4D3727"/>
                </a:solidFill>
                <a:latin typeface="Calibri"/>
              </a:rPr>
              <a:t>Leaf symptoms are often the first visible sign of a plant disease.</a:t>
            </a:r>
          </a:p>
          <a:p>
            <a:pPr marL="246888" indent="-246888" algn="l">
              <a:lnSpc>
                <a:spcPct val="112000"/>
              </a:lnSpc>
              <a:spcAft>
                <a:spcPts val="1300"/>
              </a:spcAft>
              <a:buClr>
                <a:srgbClr val="2B5B3A"/>
              </a:buClr>
              <a:buFont typeface="Arial"/>
              <a:buChar char="•"/>
            </a:pPr>
            <a:r>
              <a:rPr sz="1800" b="0" i="0" dirty="0">
                <a:solidFill>
                  <a:srgbClr val="4D3727"/>
                </a:solidFill>
                <a:latin typeface="Calibri"/>
              </a:rPr>
              <a:t>Knowing the likely disease early helps decide what to do next.</a:t>
            </a:r>
          </a:p>
        </p:txBody>
      </p:sp>
      <p:sp>
        <p:nvSpPr>
          <p:cNvPr id="30" name="Rounded Rectangle 29"/>
          <p:cNvSpPr/>
          <p:nvPr/>
        </p:nvSpPr>
        <p:spPr>
          <a:xfrm>
            <a:off x="4389120" y="1325880"/>
            <a:ext cx="3520440" cy="3429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89120" y="1435607"/>
            <a:ext cx="64008" cy="320954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90288" y="1463040"/>
            <a:ext cx="320040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The difficulty</a:t>
            </a:r>
          </a:p>
        </p:txBody>
      </p:sp>
      <p:sp>
        <p:nvSpPr>
          <p:cNvPr id="33" name="TextBox 32"/>
          <p:cNvSpPr txBox="1"/>
          <p:nvPr/>
        </p:nvSpPr>
        <p:spPr>
          <a:xfrm>
            <a:off x="4590288" y="2011680"/>
            <a:ext cx="3200400" cy="2651760"/>
          </a:xfrm>
          <a:prstGeom prst="rect">
            <a:avLst/>
          </a:prstGeom>
          <a:noFill/>
        </p:spPr>
        <p:txBody>
          <a:bodyPr wrap="square" lIns="73152" tIns="27432" rIns="73152" bIns="27432" anchor="t">
            <a:noAutofit/>
          </a:bodyPr>
          <a:lstStyle/>
          <a:p>
            <a:pPr marL="246888" indent="-246888" algn="l">
              <a:lnSpc>
                <a:spcPct val="112000"/>
              </a:lnSpc>
              <a:spcAft>
                <a:spcPts val="1300"/>
              </a:spcAft>
              <a:buClr>
                <a:srgbClr val="2B5B3A"/>
              </a:buClr>
              <a:buFont typeface="Arial"/>
              <a:buChar char="•"/>
            </a:pPr>
            <a:r>
              <a:rPr sz="1800" b="0" i="0">
                <a:solidFill>
                  <a:srgbClr val="4D3727"/>
                </a:solidFill>
                <a:latin typeface="Calibri"/>
              </a:rPr>
              <a:t>Manual visual checks can be subjective.</a:t>
            </a:r>
          </a:p>
          <a:p>
            <a:pPr marL="246888" indent="-246888" algn="l">
              <a:lnSpc>
                <a:spcPct val="112000"/>
              </a:lnSpc>
              <a:spcAft>
                <a:spcPts val="1300"/>
              </a:spcAft>
              <a:buClr>
                <a:srgbClr val="2B5B3A"/>
              </a:buClr>
              <a:buFont typeface="Arial"/>
              <a:buChar char="•"/>
            </a:pPr>
            <a:r>
              <a:rPr sz="1800" b="0" i="0">
                <a:solidFill>
                  <a:srgbClr val="4D3727"/>
                </a:solidFill>
                <a:latin typeface="Calibri"/>
              </a:rPr>
              <a:t>They depend on the observer’s experience.</a:t>
            </a:r>
          </a:p>
          <a:p>
            <a:pPr marL="246888" indent="-246888" algn="l">
              <a:lnSpc>
                <a:spcPct val="112000"/>
              </a:lnSpc>
              <a:spcAft>
                <a:spcPts val="1300"/>
              </a:spcAft>
              <a:buClr>
                <a:srgbClr val="2B5B3A"/>
              </a:buClr>
              <a:buFont typeface="Arial"/>
              <a:buChar char="•"/>
            </a:pPr>
            <a:r>
              <a:rPr sz="1800" b="0" i="0">
                <a:solidFill>
                  <a:srgbClr val="4D3727"/>
                </a:solidFill>
                <a:latin typeface="Calibri"/>
              </a:rPr>
              <a:t>Expert help is not always readily available.</a:t>
            </a:r>
          </a:p>
        </p:txBody>
      </p:sp>
      <p:sp>
        <p:nvSpPr>
          <p:cNvPr id="34" name="Rounded Rectangle 33"/>
          <p:cNvSpPr/>
          <p:nvPr/>
        </p:nvSpPr>
        <p:spPr>
          <a:xfrm>
            <a:off x="8138159" y="1325880"/>
            <a:ext cx="3520440" cy="3429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38159" y="1435607"/>
            <a:ext cx="64008" cy="320954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39327" y="1463040"/>
            <a:ext cx="320040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What PlantRx addresses</a:t>
            </a:r>
          </a:p>
        </p:txBody>
      </p:sp>
      <p:sp>
        <p:nvSpPr>
          <p:cNvPr id="37" name="TextBox 36"/>
          <p:cNvSpPr txBox="1"/>
          <p:nvPr/>
        </p:nvSpPr>
        <p:spPr>
          <a:xfrm>
            <a:off x="8339327" y="2011680"/>
            <a:ext cx="3200400" cy="2651760"/>
          </a:xfrm>
          <a:prstGeom prst="rect">
            <a:avLst/>
          </a:prstGeom>
          <a:noFill/>
        </p:spPr>
        <p:txBody>
          <a:bodyPr wrap="square" lIns="73152" tIns="27432" rIns="73152" bIns="27432" anchor="t">
            <a:noAutofit/>
          </a:bodyPr>
          <a:lstStyle/>
          <a:p>
            <a:pPr marL="246888" indent="-246888" algn="l">
              <a:lnSpc>
                <a:spcPct val="112000"/>
              </a:lnSpc>
              <a:spcAft>
                <a:spcPts val="1300"/>
              </a:spcAft>
              <a:buClr>
                <a:srgbClr val="2B5B3A"/>
              </a:buClr>
              <a:buFont typeface="Arial"/>
              <a:buChar char="•"/>
            </a:pPr>
            <a:r>
              <a:rPr sz="1800" b="0" i="0">
                <a:solidFill>
                  <a:srgbClr val="4D3727"/>
                </a:solidFill>
                <a:latin typeface="Calibri"/>
              </a:rPr>
              <a:t>Upload a leaf image.</a:t>
            </a:r>
          </a:p>
          <a:p>
            <a:pPr marL="246888" indent="-246888" algn="l">
              <a:lnSpc>
                <a:spcPct val="112000"/>
              </a:lnSpc>
              <a:spcAft>
                <a:spcPts val="1300"/>
              </a:spcAft>
              <a:buClr>
                <a:srgbClr val="2B5B3A"/>
              </a:buClr>
              <a:buFont typeface="Arial"/>
              <a:buChar char="•"/>
            </a:pPr>
            <a:r>
              <a:rPr sz="1800" b="0" i="0">
                <a:solidFill>
                  <a:srgbClr val="4D3727"/>
                </a:solidFill>
                <a:latin typeface="Calibri"/>
              </a:rPr>
              <a:t>Classify it into one of 38 supported classes.</a:t>
            </a:r>
          </a:p>
          <a:p>
            <a:pPr marL="246888" indent="-246888" algn="l">
              <a:lnSpc>
                <a:spcPct val="112000"/>
              </a:lnSpc>
              <a:spcAft>
                <a:spcPts val="1300"/>
              </a:spcAft>
              <a:buClr>
                <a:srgbClr val="2B5B3A"/>
              </a:buClr>
              <a:buFont typeface="Arial"/>
              <a:buChar char="•"/>
            </a:pPr>
            <a:r>
              <a:rPr sz="1800" b="0" i="0">
                <a:solidFill>
                  <a:srgbClr val="4D3727"/>
                </a:solidFill>
                <a:latin typeface="Calibri"/>
              </a:rPr>
              <a:t>Show related disease guidance.</a:t>
            </a:r>
          </a:p>
        </p:txBody>
      </p:sp>
      <p:sp>
        <p:nvSpPr>
          <p:cNvPr id="38" name="Rounded Rectangle 37"/>
          <p:cNvSpPr/>
          <p:nvPr/>
        </p:nvSpPr>
        <p:spPr>
          <a:xfrm>
            <a:off x="640080" y="4983480"/>
            <a:ext cx="10927080" cy="1280160"/>
          </a:xfrm>
          <a:prstGeom prst="roundRect">
            <a:avLst>
              <a:gd name="adj" fmla="val 12000"/>
            </a:avLst>
          </a:prstGeom>
          <a:solidFill>
            <a:srgbClr val="E8EFE2"/>
          </a:solidFill>
          <a:ln w="1587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68680" y="5074920"/>
            <a:ext cx="10515600" cy="1097280"/>
          </a:xfrm>
          <a:prstGeom prst="rect">
            <a:avLst/>
          </a:prstGeom>
          <a:noFill/>
        </p:spPr>
        <p:txBody>
          <a:bodyPr wrap="square" lIns="73152" tIns="27432" rIns="73152" bIns="27432" anchor="ctr">
            <a:noAutofit/>
          </a:bodyPr>
          <a:lstStyle/>
          <a:p>
            <a:pPr algn="l">
              <a:lnSpc>
                <a:spcPct val="112000"/>
              </a:lnSpc>
              <a:spcAft>
                <a:spcPts val="600"/>
              </a:spcAft>
            </a:pPr>
            <a:r>
              <a:rPr sz="1800" b="1" i="0">
                <a:solidFill>
                  <a:srgbClr val="4D3727"/>
                </a:solidFill>
                <a:latin typeface="Calibri"/>
              </a:rPr>
              <a:t>Objective: </a:t>
            </a:r>
            <a:r>
              <a:rPr sz="1800" b="0" i="0">
                <a:solidFill>
                  <a:srgbClr val="4D3727"/>
                </a:solidFill>
                <a:latin typeface="Calibri"/>
              </a:rPr>
              <a:t>connect image classification with accessible information, while making the limits of an automated prediction clear.</a:t>
            </a:r>
          </a:p>
          <a:p>
            <a:pPr algn="l">
              <a:lnSpc>
                <a:spcPct val="112000"/>
              </a:lnSpc>
              <a:spcAft>
                <a:spcPts val="600"/>
              </a:spcAft>
            </a:pPr>
            <a:r>
              <a:rPr sz="1800" b="1" i="0">
                <a:solidFill>
                  <a:srgbClr val="4D3727"/>
                </a:solidFill>
                <a:latin typeface="Calibri"/>
              </a:rPr>
              <a:t>PlantRx is decision support, not a replacement for an agricultural expert.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15" name="Picture 14"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16" name="Picture 15" descr="leaf_04.png"/>
          <p:cNvPicPr>
            <a:picLocks noChangeAspect="1"/>
          </p:cNvPicPr>
          <p:nvPr/>
        </p:nvPicPr>
        <p:blipFill>
          <a:blip r:embed="rId3"/>
          <a:stretch>
            <a:fillRect/>
          </a:stretch>
        </p:blipFill>
        <p:spPr>
          <a:xfrm>
            <a:off x="10927080" y="530352"/>
            <a:ext cx="658368" cy="475488"/>
          </a:xfrm>
          <a:prstGeom prst="rect">
            <a:avLst/>
          </a:prstGeom>
        </p:spPr>
      </p:pic>
      <p:sp>
        <p:nvSpPr>
          <p:cNvPr id="17"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dirty="0">
                <a:solidFill>
                  <a:srgbClr val="4D3727"/>
                </a:solidFill>
                <a:latin typeface="Calibri"/>
              </a:rPr>
              <a:t>PLANT RX  |  M.SC. APPLIED DATA SCIENCE</a:t>
            </a:r>
          </a:p>
        </p:txBody>
      </p:sp>
      <p:sp>
        <p:nvSpPr>
          <p:cNvPr id="18"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Existing System vs Proposed System</a:t>
            </a:r>
          </a:p>
        </p:txBody>
      </p:sp>
      <p:sp>
        <p:nvSpPr>
          <p:cNvPr id="19"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20"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dirty="0">
                <a:solidFill>
                  <a:srgbClr val="4D3727"/>
                </a:solidFill>
                <a:latin typeface="Calibri"/>
              </a:rPr>
              <a:t>0</a:t>
            </a:r>
            <a:r>
              <a:rPr lang="en-US" sz="1200" b="1" i="0" dirty="0">
                <a:solidFill>
                  <a:srgbClr val="4D3727"/>
                </a:solidFill>
                <a:latin typeface="Calibri"/>
              </a:rPr>
              <a:t>3</a:t>
            </a:r>
            <a:endParaRPr sz="1200" b="1" i="0" dirty="0">
              <a:solidFill>
                <a:srgbClr val="4D3727"/>
              </a:solidFill>
              <a:latin typeface="Calibri"/>
            </a:endParaRPr>
          </a:p>
        </p:txBody>
      </p:sp>
      <p:sp>
        <p:nvSpPr>
          <p:cNvPr id="21" name="Rounded Rectangle 20"/>
          <p:cNvSpPr/>
          <p:nvPr/>
        </p:nvSpPr>
        <p:spPr>
          <a:xfrm>
            <a:off x="640080" y="1325880"/>
            <a:ext cx="4937760" cy="384048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1435607"/>
            <a:ext cx="64008" cy="362102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1463040"/>
            <a:ext cx="4526280" cy="640080"/>
          </a:xfrm>
          <a:prstGeom prst="rect">
            <a:avLst/>
          </a:prstGeom>
          <a:noFill/>
        </p:spPr>
        <p:txBody>
          <a:bodyPr wrap="square" lIns="73152" tIns="27432" rIns="73152" bIns="27432" anchor="ctr">
            <a:noAutofit/>
          </a:bodyPr>
          <a:lstStyle/>
          <a:p>
            <a:pPr algn="l">
              <a:lnSpc>
                <a:spcPct val="112000"/>
              </a:lnSpc>
              <a:spcAft>
                <a:spcPts val="600"/>
              </a:spcAft>
            </a:pPr>
            <a:r>
              <a:rPr sz="2100" b="1" i="0">
                <a:solidFill>
                  <a:srgbClr val="4D3727"/>
                </a:solidFill>
                <a:latin typeface="Cambria"/>
              </a:rPr>
              <a:t>Existing: manual visual inspection</a:t>
            </a:r>
          </a:p>
        </p:txBody>
      </p:sp>
      <p:sp>
        <p:nvSpPr>
          <p:cNvPr id="24" name="TextBox 23"/>
          <p:cNvSpPr txBox="1"/>
          <p:nvPr/>
        </p:nvSpPr>
        <p:spPr>
          <a:xfrm>
            <a:off x="868680" y="2286000"/>
            <a:ext cx="4526280" cy="2743200"/>
          </a:xfrm>
          <a:prstGeom prst="rect">
            <a:avLst/>
          </a:prstGeom>
          <a:noFill/>
        </p:spPr>
        <p:txBody>
          <a:bodyPr wrap="square" lIns="73152" tIns="27432" rIns="73152" bIns="27432" anchor="t">
            <a:noAutofit/>
          </a:bodyPr>
          <a:lstStyle/>
          <a:p>
            <a:pPr marL="246888" indent="-246888" algn="l">
              <a:lnSpc>
                <a:spcPct val="112000"/>
              </a:lnSpc>
              <a:spcAft>
                <a:spcPts val="1600"/>
              </a:spcAft>
              <a:buClr>
                <a:srgbClr val="2B5B3A"/>
              </a:buClr>
              <a:buFont typeface="Arial"/>
              <a:buChar char="•"/>
            </a:pPr>
            <a:r>
              <a:rPr sz="2000" b="0" i="0">
                <a:solidFill>
                  <a:srgbClr val="4D3727"/>
                </a:solidFill>
                <a:latin typeface="Calibri"/>
              </a:rPr>
              <a:t>Observer looks at the leaf</a:t>
            </a:r>
          </a:p>
          <a:p>
            <a:pPr marL="246888" indent="-246888" algn="l">
              <a:lnSpc>
                <a:spcPct val="112000"/>
              </a:lnSpc>
              <a:spcAft>
                <a:spcPts val="1600"/>
              </a:spcAft>
              <a:buClr>
                <a:srgbClr val="2B5B3A"/>
              </a:buClr>
              <a:buFont typeface="Arial"/>
              <a:buChar char="•"/>
            </a:pPr>
            <a:r>
              <a:rPr sz="2000" b="0" i="0">
                <a:solidFill>
                  <a:srgbClr val="4D3727"/>
                </a:solidFill>
                <a:latin typeface="Calibri"/>
              </a:rPr>
              <a:t>Result depends on experience</a:t>
            </a:r>
          </a:p>
          <a:p>
            <a:pPr marL="246888" indent="-246888" algn="l">
              <a:lnSpc>
                <a:spcPct val="112000"/>
              </a:lnSpc>
              <a:spcAft>
                <a:spcPts val="1600"/>
              </a:spcAft>
              <a:buClr>
                <a:srgbClr val="2B5B3A"/>
              </a:buClr>
              <a:buFont typeface="Arial"/>
              <a:buChar char="•"/>
            </a:pPr>
            <a:r>
              <a:rPr sz="2000" b="0" i="0">
                <a:solidFill>
                  <a:srgbClr val="4D3727"/>
                </a:solidFill>
                <a:latin typeface="Calibri"/>
              </a:rPr>
              <a:t>Diagnosis and advice may be separate</a:t>
            </a:r>
          </a:p>
          <a:p>
            <a:pPr marL="246888" indent="-246888" algn="l">
              <a:lnSpc>
                <a:spcPct val="112000"/>
              </a:lnSpc>
              <a:spcAft>
                <a:spcPts val="1600"/>
              </a:spcAft>
              <a:buClr>
                <a:srgbClr val="2B5B3A"/>
              </a:buClr>
              <a:buFont typeface="Arial"/>
              <a:buChar char="•"/>
            </a:pPr>
            <a:r>
              <a:rPr sz="2000" b="0" i="0">
                <a:solidFill>
                  <a:srgbClr val="4D3727"/>
                </a:solidFill>
                <a:latin typeface="Calibri"/>
              </a:rPr>
              <a:t>Hard without expert access</a:t>
            </a:r>
          </a:p>
        </p:txBody>
      </p:sp>
      <p:sp>
        <p:nvSpPr>
          <p:cNvPr id="25" name="Rounded Rectangle 24"/>
          <p:cNvSpPr/>
          <p:nvPr/>
        </p:nvSpPr>
        <p:spPr>
          <a:xfrm>
            <a:off x="6629400" y="1325880"/>
            <a:ext cx="4937760" cy="3840480"/>
          </a:xfrm>
          <a:prstGeom prst="roundRect">
            <a:avLst>
              <a:gd name="adj" fmla="val 6000"/>
            </a:avLst>
          </a:prstGeom>
          <a:solidFill>
            <a:srgbClr val="E8EFE2"/>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29400" y="1435607"/>
            <a:ext cx="64008" cy="362102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1463040"/>
            <a:ext cx="4526280" cy="640080"/>
          </a:xfrm>
          <a:prstGeom prst="rect">
            <a:avLst/>
          </a:prstGeom>
          <a:noFill/>
        </p:spPr>
        <p:txBody>
          <a:bodyPr wrap="square" lIns="73152" tIns="27432" rIns="73152" bIns="27432" anchor="ctr">
            <a:noAutofit/>
          </a:bodyPr>
          <a:lstStyle/>
          <a:p>
            <a:pPr algn="l">
              <a:lnSpc>
                <a:spcPct val="112000"/>
              </a:lnSpc>
              <a:spcAft>
                <a:spcPts val="600"/>
              </a:spcAft>
            </a:pPr>
            <a:r>
              <a:rPr sz="2100" b="1" i="0">
                <a:solidFill>
                  <a:srgbClr val="4D3727"/>
                </a:solidFill>
                <a:latin typeface="Cambria"/>
              </a:rPr>
              <a:t>Proposed: PlantRx workflow</a:t>
            </a:r>
          </a:p>
        </p:txBody>
      </p:sp>
      <p:sp>
        <p:nvSpPr>
          <p:cNvPr id="28" name="TextBox 27"/>
          <p:cNvSpPr txBox="1"/>
          <p:nvPr/>
        </p:nvSpPr>
        <p:spPr>
          <a:xfrm>
            <a:off x="6858000" y="2286000"/>
            <a:ext cx="4526280" cy="2743200"/>
          </a:xfrm>
          <a:prstGeom prst="rect">
            <a:avLst/>
          </a:prstGeom>
          <a:noFill/>
        </p:spPr>
        <p:txBody>
          <a:bodyPr wrap="square" lIns="73152" tIns="27432" rIns="73152" bIns="27432" anchor="t">
            <a:noAutofit/>
          </a:bodyPr>
          <a:lstStyle/>
          <a:p>
            <a:pPr marL="246888" indent="-246888" algn="l">
              <a:lnSpc>
                <a:spcPct val="112000"/>
              </a:lnSpc>
              <a:spcAft>
                <a:spcPts val="1600"/>
              </a:spcAft>
              <a:buClr>
                <a:srgbClr val="2B5B3A"/>
              </a:buClr>
              <a:buFont typeface="Arial"/>
              <a:buChar char="•"/>
            </a:pPr>
            <a:r>
              <a:rPr sz="2000" b="0" i="0">
                <a:solidFill>
                  <a:srgbClr val="4D3727"/>
                </a:solidFill>
                <a:latin typeface="Calibri"/>
              </a:rPr>
              <a:t>Upload a supported leaf image</a:t>
            </a:r>
          </a:p>
          <a:p>
            <a:pPr marL="246888" indent="-246888" algn="l">
              <a:lnSpc>
                <a:spcPct val="112000"/>
              </a:lnSpc>
              <a:spcAft>
                <a:spcPts val="1600"/>
              </a:spcAft>
              <a:buClr>
                <a:srgbClr val="2B5B3A"/>
              </a:buClr>
              <a:buFont typeface="Arial"/>
              <a:buChar char="•"/>
            </a:pPr>
            <a:r>
              <a:rPr sz="2000" b="0" i="0">
                <a:solidFill>
                  <a:srgbClr val="4D3727"/>
                </a:solidFill>
                <a:latin typeface="Calibri"/>
              </a:rPr>
              <a:t>Predict one of 38 known classes</a:t>
            </a:r>
          </a:p>
          <a:p>
            <a:pPr marL="246888" indent="-246888" algn="l">
              <a:lnSpc>
                <a:spcPct val="112000"/>
              </a:lnSpc>
              <a:spcAft>
                <a:spcPts val="1600"/>
              </a:spcAft>
              <a:buClr>
                <a:srgbClr val="2B5B3A"/>
              </a:buClr>
              <a:buFont typeface="Arial"/>
              <a:buChar char="•"/>
            </a:pPr>
            <a:r>
              <a:rPr sz="2000" b="0" i="0">
                <a:solidFill>
                  <a:srgbClr val="4D3727"/>
                </a:solidFill>
                <a:latin typeface="Calibri"/>
              </a:rPr>
              <a:t>Show confidence and top candidates</a:t>
            </a:r>
          </a:p>
          <a:p>
            <a:pPr marL="246888" indent="-246888" algn="l">
              <a:lnSpc>
                <a:spcPct val="112000"/>
              </a:lnSpc>
              <a:spcAft>
                <a:spcPts val="1600"/>
              </a:spcAft>
              <a:buClr>
                <a:srgbClr val="2B5B3A"/>
              </a:buClr>
              <a:buFont typeface="Arial"/>
              <a:buChar char="•"/>
            </a:pPr>
            <a:r>
              <a:rPr sz="2000" b="0" i="0">
                <a:solidFill>
                  <a:srgbClr val="4D3727"/>
                </a:solidFill>
                <a:latin typeface="Calibri"/>
              </a:rPr>
              <a:t>Display related guidance in one place</a:t>
            </a:r>
          </a:p>
        </p:txBody>
      </p:sp>
      <p:sp>
        <p:nvSpPr>
          <p:cNvPr id="29" name="Right Arrow 28"/>
          <p:cNvSpPr/>
          <p:nvPr/>
        </p:nvSpPr>
        <p:spPr>
          <a:xfrm>
            <a:off x="5669280" y="3108960"/>
            <a:ext cx="502920" cy="502920"/>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394960"/>
            <a:ext cx="10927080" cy="822960"/>
          </a:xfrm>
          <a:prstGeom prst="rect">
            <a:avLst/>
          </a:prstGeom>
          <a:noFill/>
        </p:spPr>
        <p:txBody>
          <a:bodyPr wrap="square" lIns="73152" tIns="27432" rIns="73152" bIns="27432" anchor="ctr">
            <a:noAutofit/>
          </a:bodyPr>
          <a:lstStyle/>
          <a:p>
            <a:pPr algn="l">
              <a:lnSpc>
                <a:spcPct val="112000"/>
              </a:lnSpc>
              <a:spcAft>
                <a:spcPts val="600"/>
              </a:spcAft>
            </a:pPr>
            <a:r>
              <a:rPr sz="1900" b="1" i="0">
                <a:solidFill>
                  <a:srgbClr val="4D3727"/>
                </a:solidFill>
                <a:latin typeface="Calibri"/>
              </a:rPr>
              <a:t>The system is limited to its trained classes and the quality of its reference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26" name="Picture 25"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27" name="Picture 26" descr="leaf_03.png"/>
          <p:cNvPicPr>
            <a:picLocks noChangeAspect="1"/>
          </p:cNvPicPr>
          <p:nvPr/>
        </p:nvPicPr>
        <p:blipFill>
          <a:blip r:embed="rId3"/>
          <a:stretch>
            <a:fillRect/>
          </a:stretch>
        </p:blipFill>
        <p:spPr>
          <a:xfrm>
            <a:off x="10927080" y="530352"/>
            <a:ext cx="658368" cy="475488"/>
          </a:xfrm>
          <a:prstGeom prst="rect">
            <a:avLst/>
          </a:prstGeom>
        </p:spPr>
      </p:pic>
      <p:sp>
        <p:nvSpPr>
          <p:cNvPr id="28"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29"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Project Objectives</a:t>
            </a:r>
          </a:p>
        </p:txBody>
      </p:sp>
      <p:sp>
        <p:nvSpPr>
          <p:cNvPr id="30"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31"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dirty="0">
                <a:solidFill>
                  <a:srgbClr val="4D3727"/>
                </a:solidFill>
                <a:latin typeface="Calibri"/>
              </a:rPr>
              <a:t>0</a:t>
            </a:r>
            <a:r>
              <a:rPr lang="en-US" sz="1200" b="1" i="0" dirty="0">
                <a:solidFill>
                  <a:srgbClr val="4D3727"/>
                </a:solidFill>
                <a:latin typeface="Calibri"/>
              </a:rPr>
              <a:t>4</a:t>
            </a:r>
            <a:endParaRPr sz="1200" b="1" i="0" dirty="0">
              <a:solidFill>
                <a:srgbClr val="4D3727"/>
              </a:solidFill>
              <a:latin typeface="Calibri"/>
            </a:endParaRPr>
          </a:p>
        </p:txBody>
      </p:sp>
      <p:sp>
        <p:nvSpPr>
          <p:cNvPr id="32" name="Rounded Rectangle 31"/>
          <p:cNvSpPr/>
          <p:nvPr/>
        </p:nvSpPr>
        <p:spPr>
          <a:xfrm>
            <a:off x="640080" y="1325880"/>
            <a:ext cx="5349240" cy="178308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1435607"/>
            <a:ext cx="64008" cy="156362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 y="1435607"/>
            <a:ext cx="493776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01  Explore the dataset</a:t>
            </a:r>
          </a:p>
        </p:txBody>
      </p:sp>
      <p:sp>
        <p:nvSpPr>
          <p:cNvPr id="35" name="TextBox 34"/>
          <p:cNvSpPr txBox="1"/>
          <p:nvPr/>
        </p:nvSpPr>
        <p:spPr>
          <a:xfrm>
            <a:off x="868680" y="1984248"/>
            <a:ext cx="4937760" cy="1051560"/>
          </a:xfrm>
          <a:prstGeom prst="rect">
            <a:avLst/>
          </a:prstGeom>
          <a:noFill/>
        </p:spPr>
        <p:txBody>
          <a:bodyPr wrap="square" lIns="73152" tIns="27432" rIns="73152" bIns="27432" anchor="t">
            <a:noAutofit/>
          </a:bodyPr>
          <a:lstStyle/>
          <a:p>
            <a:pPr algn="l">
              <a:lnSpc>
                <a:spcPct val="112000"/>
              </a:lnSpc>
              <a:spcAft>
                <a:spcPts val="600"/>
              </a:spcAft>
            </a:pPr>
            <a:r>
              <a:rPr sz="1800" b="0" i="0">
                <a:solidFill>
                  <a:srgbClr val="4D3727"/>
                </a:solidFill>
                <a:latin typeface="Calibri"/>
              </a:rPr>
              <a:t>Dataset exploration and EDA: class distribution, image dimensions and brightness.</a:t>
            </a:r>
          </a:p>
        </p:txBody>
      </p:sp>
      <p:sp>
        <p:nvSpPr>
          <p:cNvPr id="36" name="Rounded Rectangle 35"/>
          <p:cNvSpPr/>
          <p:nvPr/>
        </p:nvSpPr>
        <p:spPr>
          <a:xfrm>
            <a:off x="6217920" y="1325880"/>
            <a:ext cx="5349240" cy="178308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17920" y="1435607"/>
            <a:ext cx="64008" cy="156362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520" y="1435607"/>
            <a:ext cx="493776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02  Train and compare models</a:t>
            </a:r>
          </a:p>
        </p:txBody>
      </p:sp>
      <p:sp>
        <p:nvSpPr>
          <p:cNvPr id="39" name="TextBox 38"/>
          <p:cNvSpPr txBox="1"/>
          <p:nvPr/>
        </p:nvSpPr>
        <p:spPr>
          <a:xfrm>
            <a:off x="6446520" y="1984248"/>
            <a:ext cx="4937760" cy="1051560"/>
          </a:xfrm>
          <a:prstGeom prst="rect">
            <a:avLst/>
          </a:prstGeom>
          <a:noFill/>
        </p:spPr>
        <p:txBody>
          <a:bodyPr wrap="square" lIns="73152" tIns="27432" rIns="73152" bIns="27432" anchor="t">
            <a:noAutofit/>
          </a:bodyPr>
          <a:lstStyle/>
          <a:p>
            <a:pPr algn="l">
              <a:lnSpc>
                <a:spcPct val="112000"/>
              </a:lnSpc>
              <a:spcAft>
                <a:spcPts val="600"/>
              </a:spcAft>
            </a:pPr>
            <a:r>
              <a:rPr sz="1800" b="0" i="0">
                <a:solidFill>
                  <a:srgbClr val="4D3727"/>
                </a:solidFill>
                <a:latin typeface="Calibri"/>
              </a:rPr>
              <a:t>Train and compare MobileNetV2, DenseNet121 and EfficientNetB0.</a:t>
            </a:r>
          </a:p>
        </p:txBody>
      </p:sp>
      <p:sp>
        <p:nvSpPr>
          <p:cNvPr id="40" name="Rounded Rectangle 39"/>
          <p:cNvSpPr/>
          <p:nvPr/>
        </p:nvSpPr>
        <p:spPr>
          <a:xfrm>
            <a:off x="640080" y="3291839"/>
            <a:ext cx="5349240" cy="178308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40080" y="3401568"/>
            <a:ext cx="64008" cy="156362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3401568"/>
            <a:ext cx="493776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03  Apply transfer learning</a:t>
            </a:r>
          </a:p>
        </p:txBody>
      </p:sp>
      <p:sp>
        <p:nvSpPr>
          <p:cNvPr id="43" name="TextBox 42"/>
          <p:cNvSpPr txBox="1"/>
          <p:nvPr/>
        </p:nvSpPr>
        <p:spPr>
          <a:xfrm>
            <a:off x="868680" y="3950207"/>
            <a:ext cx="4937760" cy="1051560"/>
          </a:xfrm>
          <a:prstGeom prst="rect">
            <a:avLst/>
          </a:prstGeom>
          <a:noFill/>
        </p:spPr>
        <p:txBody>
          <a:bodyPr wrap="square" lIns="73152" tIns="27432" rIns="73152" bIns="27432" anchor="t">
            <a:noAutofit/>
          </a:bodyPr>
          <a:lstStyle/>
          <a:p>
            <a:pPr algn="l">
              <a:lnSpc>
                <a:spcPct val="112000"/>
              </a:lnSpc>
              <a:spcAft>
                <a:spcPts val="600"/>
              </a:spcAft>
            </a:pPr>
            <a:r>
              <a:rPr sz="1800" b="0" i="0">
                <a:solidFill>
                  <a:srgbClr val="4D3727"/>
                </a:solidFill>
                <a:latin typeface="Calibri"/>
              </a:rPr>
              <a:t>Use transfer learning on the labelled PlantVillage leaf dataset.</a:t>
            </a:r>
          </a:p>
        </p:txBody>
      </p:sp>
      <p:sp>
        <p:nvSpPr>
          <p:cNvPr id="44" name="Rounded Rectangle 43"/>
          <p:cNvSpPr/>
          <p:nvPr/>
        </p:nvSpPr>
        <p:spPr>
          <a:xfrm>
            <a:off x="6217920" y="3291839"/>
            <a:ext cx="5349240" cy="178308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17920" y="3401568"/>
            <a:ext cx="64008" cy="156362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46520" y="3401568"/>
            <a:ext cx="493776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04  Present results on a website</a:t>
            </a:r>
          </a:p>
        </p:txBody>
      </p:sp>
      <p:sp>
        <p:nvSpPr>
          <p:cNvPr id="47" name="TextBox 46"/>
          <p:cNvSpPr txBox="1"/>
          <p:nvPr/>
        </p:nvSpPr>
        <p:spPr>
          <a:xfrm>
            <a:off x="6446520" y="3950207"/>
            <a:ext cx="4937760" cy="1051560"/>
          </a:xfrm>
          <a:prstGeom prst="rect">
            <a:avLst/>
          </a:prstGeom>
          <a:noFill/>
        </p:spPr>
        <p:txBody>
          <a:bodyPr wrap="square" lIns="73152" tIns="27432" rIns="73152" bIns="27432" anchor="t">
            <a:noAutofit/>
          </a:bodyPr>
          <a:lstStyle/>
          <a:p>
            <a:pPr algn="l">
              <a:lnSpc>
                <a:spcPct val="112000"/>
              </a:lnSpc>
              <a:spcAft>
                <a:spcPts val="600"/>
              </a:spcAft>
            </a:pPr>
            <a:r>
              <a:rPr sz="1800" b="0" i="0">
                <a:solidFill>
                  <a:srgbClr val="4D3727"/>
                </a:solidFill>
                <a:latin typeface="Calibri"/>
              </a:rPr>
              <a:t>Show the predicted class and related disease guidance in a web interface.</a:t>
            </a:r>
          </a:p>
        </p:txBody>
      </p:sp>
      <p:sp>
        <p:nvSpPr>
          <p:cNvPr id="48" name="TextBox 47"/>
          <p:cNvSpPr txBox="1"/>
          <p:nvPr/>
        </p:nvSpPr>
        <p:spPr>
          <a:xfrm>
            <a:off x="640080" y="5440680"/>
            <a:ext cx="10927080" cy="822960"/>
          </a:xfrm>
          <a:prstGeom prst="rect">
            <a:avLst/>
          </a:prstGeom>
          <a:noFill/>
        </p:spPr>
        <p:txBody>
          <a:bodyPr wrap="square" lIns="73152" tIns="27432" rIns="73152" bIns="27432" anchor="ctr">
            <a:noAutofit/>
          </a:bodyPr>
          <a:lstStyle/>
          <a:p>
            <a:pPr algn="l">
              <a:lnSpc>
                <a:spcPct val="112000"/>
              </a:lnSpc>
              <a:spcAft>
                <a:spcPts val="600"/>
              </a:spcAft>
            </a:pPr>
            <a:r>
              <a:rPr sz="2000" b="1" i="0">
                <a:solidFill>
                  <a:srgbClr val="4D3727"/>
                </a:solidFill>
                <a:latin typeface="Calibri"/>
              </a:rPr>
              <a:t>The goal was a usable end-to-end concept, not a claim of perfect field diagnosis.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29" name="Picture 28"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30" name="Picture 29" descr="leaf_05.png"/>
          <p:cNvPicPr>
            <a:picLocks noChangeAspect="1"/>
          </p:cNvPicPr>
          <p:nvPr/>
        </p:nvPicPr>
        <p:blipFill>
          <a:blip r:embed="rId3"/>
          <a:stretch>
            <a:fillRect/>
          </a:stretch>
        </p:blipFill>
        <p:spPr>
          <a:xfrm>
            <a:off x="10927080" y="530352"/>
            <a:ext cx="658368" cy="475488"/>
          </a:xfrm>
          <a:prstGeom prst="rect">
            <a:avLst/>
          </a:prstGeom>
        </p:spPr>
      </p:pic>
      <p:sp>
        <p:nvSpPr>
          <p:cNvPr id="31"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SOURCE: CAPSTONE REPORT</a:t>
            </a:r>
          </a:p>
        </p:txBody>
      </p:sp>
      <p:sp>
        <p:nvSpPr>
          <p:cNvPr id="32"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dirty="0">
                <a:solidFill>
                  <a:srgbClr val="5C3B25"/>
                </a:solidFill>
                <a:latin typeface="Cambria"/>
              </a:rPr>
              <a:t>Dataset Overview</a:t>
            </a:r>
            <a:r>
              <a:rPr lang="en-IN" sz="3200" b="1" i="0" dirty="0">
                <a:solidFill>
                  <a:srgbClr val="5C3B25"/>
                </a:solidFill>
                <a:latin typeface="Cambria"/>
              </a:rPr>
              <a:t> (PlantVillage Dataset)</a:t>
            </a:r>
            <a:endParaRPr sz="3200" b="1" i="0" dirty="0">
              <a:solidFill>
                <a:srgbClr val="5C3B25"/>
              </a:solidFill>
              <a:latin typeface="Cambria"/>
            </a:endParaRPr>
          </a:p>
        </p:txBody>
      </p:sp>
      <p:sp>
        <p:nvSpPr>
          <p:cNvPr id="33"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34"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a:solidFill>
                  <a:srgbClr val="4D3727"/>
                </a:solidFill>
                <a:latin typeface="Calibri"/>
              </a:rPr>
              <a:t>05</a:t>
            </a:r>
          </a:p>
        </p:txBody>
      </p:sp>
      <p:sp>
        <p:nvSpPr>
          <p:cNvPr id="35" name="Rounded Rectangle 34"/>
          <p:cNvSpPr/>
          <p:nvPr/>
        </p:nvSpPr>
        <p:spPr>
          <a:xfrm>
            <a:off x="640080" y="1280160"/>
            <a:ext cx="2606040" cy="1371600"/>
          </a:xfrm>
          <a:prstGeom prst="roundRect">
            <a:avLst>
              <a:gd name="adj" fmla="val 10000"/>
            </a:avLst>
          </a:prstGeom>
          <a:solidFill>
            <a:srgbClr val="E8EFE2"/>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1371600"/>
            <a:ext cx="2514600" cy="731520"/>
          </a:xfrm>
          <a:prstGeom prst="rect">
            <a:avLst/>
          </a:prstGeom>
          <a:noFill/>
        </p:spPr>
        <p:txBody>
          <a:bodyPr wrap="square" lIns="73152" tIns="27432" rIns="73152" bIns="27432" anchor="ctr">
            <a:noAutofit/>
          </a:bodyPr>
          <a:lstStyle/>
          <a:p>
            <a:pPr algn="ctr">
              <a:lnSpc>
                <a:spcPct val="112000"/>
              </a:lnSpc>
              <a:spcAft>
                <a:spcPts val="600"/>
              </a:spcAft>
            </a:pPr>
            <a:r>
              <a:rPr sz="4000" b="1" i="0">
                <a:solidFill>
                  <a:srgbClr val="4D3727"/>
                </a:solidFill>
                <a:latin typeface="Cambria"/>
              </a:rPr>
              <a:t>54,284</a:t>
            </a:r>
          </a:p>
        </p:txBody>
      </p:sp>
      <p:sp>
        <p:nvSpPr>
          <p:cNvPr id="37" name="TextBox 36"/>
          <p:cNvSpPr txBox="1"/>
          <p:nvPr/>
        </p:nvSpPr>
        <p:spPr>
          <a:xfrm>
            <a:off x="685800" y="2103120"/>
            <a:ext cx="2514600" cy="411480"/>
          </a:xfrm>
          <a:prstGeom prst="rect">
            <a:avLst/>
          </a:prstGeom>
          <a:noFill/>
        </p:spPr>
        <p:txBody>
          <a:bodyPr wrap="square" lIns="73152" tIns="27432" rIns="73152" bIns="27432" anchor="t">
            <a:noAutofit/>
          </a:bodyPr>
          <a:lstStyle/>
          <a:p>
            <a:pPr algn="ctr">
              <a:lnSpc>
                <a:spcPct val="112000"/>
              </a:lnSpc>
              <a:spcAft>
                <a:spcPts val="600"/>
              </a:spcAft>
            </a:pPr>
            <a:r>
              <a:rPr sz="1700" b="0" i="0">
                <a:solidFill>
                  <a:srgbClr val="4D3727"/>
                </a:solidFill>
                <a:latin typeface="Calibri"/>
              </a:rPr>
              <a:t>images</a:t>
            </a:r>
          </a:p>
        </p:txBody>
      </p:sp>
      <p:sp>
        <p:nvSpPr>
          <p:cNvPr id="38" name="Rounded Rectangle 37"/>
          <p:cNvSpPr/>
          <p:nvPr/>
        </p:nvSpPr>
        <p:spPr>
          <a:xfrm>
            <a:off x="3401568" y="1280160"/>
            <a:ext cx="2606040" cy="1371600"/>
          </a:xfrm>
          <a:prstGeom prst="roundRect">
            <a:avLst>
              <a:gd name="adj" fmla="val 10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447287" y="1371600"/>
            <a:ext cx="2514600" cy="731520"/>
          </a:xfrm>
          <a:prstGeom prst="rect">
            <a:avLst/>
          </a:prstGeom>
          <a:noFill/>
        </p:spPr>
        <p:txBody>
          <a:bodyPr wrap="square" lIns="73152" tIns="27432" rIns="73152" bIns="27432" anchor="ctr">
            <a:noAutofit/>
          </a:bodyPr>
          <a:lstStyle/>
          <a:p>
            <a:pPr algn="ctr">
              <a:lnSpc>
                <a:spcPct val="112000"/>
              </a:lnSpc>
              <a:spcAft>
                <a:spcPts val="600"/>
              </a:spcAft>
            </a:pPr>
            <a:r>
              <a:rPr sz="4000" b="1" i="0">
                <a:solidFill>
                  <a:srgbClr val="4D3727"/>
                </a:solidFill>
                <a:latin typeface="Cambria"/>
              </a:rPr>
              <a:t>38</a:t>
            </a:r>
          </a:p>
        </p:txBody>
      </p:sp>
      <p:sp>
        <p:nvSpPr>
          <p:cNvPr id="40" name="TextBox 39"/>
          <p:cNvSpPr txBox="1"/>
          <p:nvPr/>
        </p:nvSpPr>
        <p:spPr>
          <a:xfrm>
            <a:off x="3447287" y="2103120"/>
            <a:ext cx="2514600" cy="411480"/>
          </a:xfrm>
          <a:prstGeom prst="rect">
            <a:avLst/>
          </a:prstGeom>
          <a:noFill/>
        </p:spPr>
        <p:txBody>
          <a:bodyPr wrap="square" lIns="73152" tIns="27432" rIns="73152" bIns="27432" anchor="t">
            <a:noAutofit/>
          </a:bodyPr>
          <a:lstStyle/>
          <a:p>
            <a:pPr algn="ctr">
              <a:lnSpc>
                <a:spcPct val="112000"/>
              </a:lnSpc>
              <a:spcAft>
                <a:spcPts val="600"/>
              </a:spcAft>
            </a:pPr>
            <a:r>
              <a:rPr sz="1700" b="0" i="0">
                <a:solidFill>
                  <a:srgbClr val="4D3727"/>
                </a:solidFill>
                <a:latin typeface="Calibri"/>
              </a:rPr>
              <a:t>classes</a:t>
            </a:r>
          </a:p>
        </p:txBody>
      </p:sp>
      <p:sp>
        <p:nvSpPr>
          <p:cNvPr id="41" name="Rounded Rectangle 40"/>
          <p:cNvSpPr/>
          <p:nvPr/>
        </p:nvSpPr>
        <p:spPr>
          <a:xfrm>
            <a:off x="6163056" y="1280160"/>
            <a:ext cx="2606040" cy="1371600"/>
          </a:xfrm>
          <a:prstGeom prst="roundRect">
            <a:avLst>
              <a:gd name="adj" fmla="val 10000"/>
            </a:avLst>
          </a:prstGeom>
          <a:solidFill>
            <a:srgbClr val="E8EFE2"/>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08776" y="1371600"/>
            <a:ext cx="2514600" cy="731520"/>
          </a:xfrm>
          <a:prstGeom prst="rect">
            <a:avLst/>
          </a:prstGeom>
          <a:noFill/>
        </p:spPr>
        <p:txBody>
          <a:bodyPr wrap="square" lIns="73152" tIns="27432" rIns="73152" bIns="27432" anchor="ctr">
            <a:noAutofit/>
          </a:bodyPr>
          <a:lstStyle/>
          <a:p>
            <a:pPr algn="ctr">
              <a:lnSpc>
                <a:spcPct val="112000"/>
              </a:lnSpc>
              <a:spcAft>
                <a:spcPts val="600"/>
              </a:spcAft>
            </a:pPr>
            <a:r>
              <a:rPr sz="4000" b="1" i="0">
                <a:solidFill>
                  <a:srgbClr val="4D3727"/>
                </a:solidFill>
                <a:latin typeface="Cambria"/>
              </a:rPr>
              <a:t>14</a:t>
            </a:r>
          </a:p>
        </p:txBody>
      </p:sp>
      <p:sp>
        <p:nvSpPr>
          <p:cNvPr id="43" name="TextBox 42"/>
          <p:cNvSpPr txBox="1"/>
          <p:nvPr/>
        </p:nvSpPr>
        <p:spPr>
          <a:xfrm>
            <a:off x="6208776" y="2103120"/>
            <a:ext cx="2514600" cy="411480"/>
          </a:xfrm>
          <a:prstGeom prst="rect">
            <a:avLst/>
          </a:prstGeom>
          <a:noFill/>
        </p:spPr>
        <p:txBody>
          <a:bodyPr wrap="square" lIns="73152" tIns="27432" rIns="73152" bIns="27432" anchor="t">
            <a:noAutofit/>
          </a:bodyPr>
          <a:lstStyle/>
          <a:p>
            <a:pPr algn="ctr">
              <a:lnSpc>
                <a:spcPct val="112000"/>
              </a:lnSpc>
              <a:spcAft>
                <a:spcPts val="600"/>
              </a:spcAft>
            </a:pPr>
            <a:r>
              <a:rPr sz="1700" b="0" i="0">
                <a:solidFill>
                  <a:srgbClr val="4D3727"/>
                </a:solidFill>
                <a:latin typeface="Calibri"/>
              </a:rPr>
              <a:t>crop species</a:t>
            </a:r>
          </a:p>
        </p:txBody>
      </p:sp>
      <p:sp>
        <p:nvSpPr>
          <p:cNvPr id="44" name="Rounded Rectangle 43"/>
          <p:cNvSpPr/>
          <p:nvPr/>
        </p:nvSpPr>
        <p:spPr>
          <a:xfrm>
            <a:off x="8924544" y="1280160"/>
            <a:ext cx="2606040" cy="1371600"/>
          </a:xfrm>
          <a:prstGeom prst="roundRect">
            <a:avLst>
              <a:gd name="adj" fmla="val 10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70264" y="1371600"/>
            <a:ext cx="2514600" cy="731520"/>
          </a:xfrm>
          <a:prstGeom prst="rect">
            <a:avLst/>
          </a:prstGeom>
          <a:noFill/>
        </p:spPr>
        <p:txBody>
          <a:bodyPr wrap="square" lIns="73152" tIns="27432" rIns="73152" bIns="27432" anchor="ctr">
            <a:noAutofit/>
          </a:bodyPr>
          <a:lstStyle/>
          <a:p>
            <a:pPr algn="ctr">
              <a:lnSpc>
                <a:spcPct val="112000"/>
              </a:lnSpc>
              <a:spcAft>
                <a:spcPts val="600"/>
              </a:spcAft>
            </a:pPr>
            <a:r>
              <a:rPr sz="1800" b="1" i="0">
                <a:solidFill>
                  <a:srgbClr val="4D3727"/>
                </a:solidFill>
                <a:latin typeface="Cambria"/>
              </a:rPr>
              <a:t>37,982 / 8,126 / 8,176</a:t>
            </a:r>
          </a:p>
        </p:txBody>
      </p:sp>
      <p:sp>
        <p:nvSpPr>
          <p:cNvPr id="46" name="TextBox 45"/>
          <p:cNvSpPr txBox="1"/>
          <p:nvPr/>
        </p:nvSpPr>
        <p:spPr>
          <a:xfrm>
            <a:off x="8970264" y="2103120"/>
            <a:ext cx="2514600" cy="411480"/>
          </a:xfrm>
          <a:prstGeom prst="rect">
            <a:avLst/>
          </a:prstGeom>
          <a:noFill/>
        </p:spPr>
        <p:txBody>
          <a:bodyPr wrap="square" lIns="73152" tIns="27432" rIns="73152" bIns="27432" anchor="t">
            <a:noAutofit/>
          </a:bodyPr>
          <a:lstStyle/>
          <a:p>
            <a:pPr algn="ctr">
              <a:lnSpc>
                <a:spcPct val="112000"/>
              </a:lnSpc>
              <a:spcAft>
                <a:spcPts val="600"/>
              </a:spcAft>
            </a:pPr>
            <a:r>
              <a:rPr sz="1700" b="0" i="0">
                <a:solidFill>
                  <a:srgbClr val="4D3727"/>
                </a:solidFill>
                <a:latin typeface="Calibri"/>
              </a:rPr>
              <a:t>train / validation / test</a:t>
            </a:r>
          </a:p>
        </p:txBody>
      </p:sp>
      <p:sp>
        <p:nvSpPr>
          <p:cNvPr id="47" name="TextBox 46"/>
          <p:cNvSpPr txBox="1"/>
          <p:nvPr/>
        </p:nvSpPr>
        <p:spPr>
          <a:xfrm>
            <a:off x="640080" y="2834640"/>
            <a:ext cx="7315200" cy="411480"/>
          </a:xfrm>
          <a:prstGeom prst="rect">
            <a:avLst/>
          </a:prstGeom>
          <a:noFill/>
        </p:spPr>
        <p:txBody>
          <a:bodyPr wrap="square" lIns="73152" tIns="27432" rIns="73152" bIns="27432" anchor="t">
            <a:noAutofit/>
          </a:bodyPr>
          <a:lstStyle/>
          <a:p>
            <a:pPr algn="l">
              <a:lnSpc>
                <a:spcPct val="112000"/>
              </a:lnSpc>
              <a:spcAft>
                <a:spcPts val="600"/>
              </a:spcAft>
            </a:pPr>
            <a:r>
              <a:rPr sz="2000" b="1" i="0">
                <a:solidFill>
                  <a:srgbClr val="4D3727"/>
                </a:solidFill>
                <a:latin typeface="Cambria"/>
              </a:rPr>
              <a:t>Train / validation / test split (70 / 15 / 15)</a:t>
            </a:r>
          </a:p>
        </p:txBody>
      </p:sp>
      <p:sp>
        <p:nvSpPr>
          <p:cNvPr id="48" name="Rectangle 47"/>
          <p:cNvSpPr/>
          <p:nvPr/>
        </p:nvSpPr>
        <p:spPr>
          <a:xfrm>
            <a:off x="640080" y="3291840"/>
            <a:ext cx="7645574" cy="594360"/>
          </a:xfrm>
          <a:prstGeom prst="rect">
            <a:avLst/>
          </a:prstGeom>
          <a:solidFill>
            <a:srgbClr val="9DBB94"/>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3291840"/>
            <a:ext cx="7645574" cy="594360"/>
          </a:xfrm>
          <a:prstGeom prst="rect">
            <a:avLst/>
          </a:prstGeom>
          <a:noFill/>
        </p:spPr>
        <p:txBody>
          <a:bodyPr wrap="square" lIns="73152" tIns="27432" rIns="73152" bIns="27432" anchor="ctr">
            <a:noAutofit/>
          </a:bodyPr>
          <a:lstStyle/>
          <a:p>
            <a:pPr algn="ctr">
              <a:lnSpc>
                <a:spcPct val="112000"/>
              </a:lnSpc>
              <a:spcAft>
                <a:spcPts val="600"/>
              </a:spcAft>
            </a:pPr>
            <a:r>
              <a:rPr sz="1900" b="1" i="0">
                <a:solidFill>
                  <a:srgbClr val="4D3727"/>
                </a:solidFill>
                <a:latin typeface="Calibri"/>
              </a:rPr>
              <a:t>70%</a:t>
            </a:r>
          </a:p>
        </p:txBody>
      </p:sp>
      <p:sp>
        <p:nvSpPr>
          <p:cNvPr id="50" name="Rectangle 49"/>
          <p:cNvSpPr/>
          <p:nvPr/>
        </p:nvSpPr>
        <p:spPr>
          <a:xfrm>
            <a:off x="8285654" y="3291840"/>
            <a:ext cx="1635720" cy="594360"/>
          </a:xfrm>
          <a:prstGeom prst="rect">
            <a:avLst/>
          </a:prstGeom>
          <a:solidFill>
            <a:srgbClr val="C9D8C0"/>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85654" y="3291840"/>
            <a:ext cx="1635720" cy="594360"/>
          </a:xfrm>
          <a:prstGeom prst="rect">
            <a:avLst/>
          </a:prstGeom>
          <a:noFill/>
        </p:spPr>
        <p:txBody>
          <a:bodyPr wrap="square" lIns="73152" tIns="27432" rIns="73152" bIns="27432" anchor="ctr">
            <a:noAutofit/>
          </a:bodyPr>
          <a:lstStyle/>
          <a:p>
            <a:pPr algn="ctr">
              <a:lnSpc>
                <a:spcPct val="112000"/>
              </a:lnSpc>
              <a:spcAft>
                <a:spcPts val="600"/>
              </a:spcAft>
            </a:pPr>
            <a:r>
              <a:rPr sz="1900" b="1" i="0">
                <a:solidFill>
                  <a:srgbClr val="4D3727"/>
                </a:solidFill>
                <a:latin typeface="Calibri"/>
              </a:rPr>
              <a:t>15%</a:t>
            </a:r>
          </a:p>
        </p:txBody>
      </p:sp>
      <p:sp>
        <p:nvSpPr>
          <p:cNvPr id="52" name="Rectangle 51"/>
          <p:cNvSpPr/>
          <p:nvPr/>
        </p:nvSpPr>
        <p:spPr>
          <a:xfrm>
            <a:off x="9921374" y="3291840"/>
            <a:ext cx="1645785" cy="594360"/>
          </a:xfrm>
          <a:prstGeom prst="rect">
            <a:avLst/>
          </a:prstGeom>
          <a:solidFill>
            <a:srgbClr val="E3D5B8"/>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921374" y="3291840"/>
            <a:ext cx="1645785" cy="594360"/>
          </a:xfrm>
          <a:prstGeom prst="rect">
            <a:avLst/>
          </a:prstGeom>
          <a:noFill/>
        </p:spPr>
        <p:txBody>
          <a:bodyPr wrap="square" lIns="73152" tIns="27432" rIns="73152" bIns="27432" anchor="ctr">
            <a:noAutofit/>
          </a:bodyPr>
          <a:lstStyle/>
          <a:p>
            <a:pPr algn="ctr">
              <a:lnSpc>
                <a:spcPct val="112000"/>
              </a:lnSpc>
              <a:spcAft>
                <a:spcPts val="600"/>
              </a:spcAft>
            </a:pPr>
            <a:r>
              <a:rPr sz="1900" b="1" i="0">
                <a:solidFill>
                  <a:srgbClr val="4D3727"/>
                </a:solidFill>
                <a:latin typeface="Calibri"/>
              </a:rPr>
              <a:t>15%</a:t>
            </a:r>
          </a:p>
        </p:txBody>
      </p:sp>
      <p:sp>
        <p:nvSpPr>
          <p:cNvPr id="54" name="Rounded Rectangle 53"/>
          <p:cNvSpPr/>
          <p:nvPr/>
        </p:nvSpPr>
        <p:spPr>
          <a:xfrm>
            <a:off x="640080" y="4069080"/>
            <a:ext cx="3520440" cy="14173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40080" y="4178808"/>
            <a:ext cx="64008" cy="119786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22959" y="4133087"/>
            <a:ext cx="3246120" cy="41148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Training  •  37,982</a:t>
            </a:r>
          </a:p>
        </p:txBody>
      </p:sp>
      <p:sp>
        <p:nvSpPr>
          <p:cNvPr id="57" name="TextBox 56"/>
          <p:cNvSpPr txBox="1"/>
          <p:nvPr/>
        </p:nvSpPr>
        <p:spPr>
          <a:xfrm>
            <a:off x="822959" y="4572000"/>
            <a:ext cx="3246120" cy="86868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The model learns patterns from these images.</a:t>
            </a:r>
          </a:p>
        </p:txBody>
      </p:sp>
      <p:sp>
        <p:nvSpPr>
          <p:cNvPr id="58" name="Rounded Rectangle 57"/>
          <p:cNvSpPr/>
          <p:nvPr/>
        </p:nvSpPr>
        <p:spPr>
          <a:xfrm>
            <a:off x="4343400" y="4069080"/>
            <a:ext cx="3520440" cy="14173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343400" y="4178808"/>
            <a:ext cx="64008" cy="119786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526280" y="4133087"/>
            <a:ext cx="3246120" cy="41148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Validation  •  8,126</a:t>
            </a:r>
          </a:p>
        </p:txBody>
      </p:sp>
      <p:sp>
        <p:nvSpPr>
          <p:cNvPr id="61" name="TextBox 60"/>
          <p:cNvSpPr txBox="1"/>
          <p:nvPr/>
        </p:nvSpPr>
        <p:spPr>
          <a:xfrm>
            <a:off x="4526280" y="4572000"/>
            <a:ext cx="3246120" cy="86868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Used to monitor progress and guide tuning during training.</a:t>
            </a:r>
          </a:p>
        </p:txBody>
      </p:sp>
      <p:sp>
        <p:nvSpPr>
          <p:cNvPr id="62" name="Rounded Rectangle 61"/>
          <p:cNvSpPr/>
          <p:nvPr/>
        </p:nvSpPr>
        <p:spPr>
          <a:xfrm>
            <a:off x="8046719" y="4069080"/>
            <a:ext cx="3520440" cy="14173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046719" y="4178808"/>
            <a:ext cx="64008" cy="119786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9599" y="4133087"/>
            <a:ext cx="3246120" cy="41148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Test  •  8,176</a:t>
            </a:r>
          </a:p>
        </p:txBody>
      </p:sp>
      <p:sp>
        <p:nvSpPr>
          <p:cNvPr id="65" name="TextBox 64"/>
          <p:cNvSpPr txBox="1"/>
          <p:nvPr/>
        </p:nvSpPr>
        <p:spPr>
          <a:xfrm>
            <a:off x="8229599" y="4572000"/>
            <a:ext cx="3246120" cy="86868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Held-out images for the final evaluation.</a:t>
            </a:r>
          </a:p>
        </p:txBody>
      </p:sp>
      <p:sp>
        <p:nvSpPr>
          <p:cNvPr id="66" name="TextBox 65"/>
          <p:cNvSpPr txBox="1"/>
          <p:nvPr/>
        </p:nvSpPr>
        <p:spPr>
          <a:xfrm>
            <a:off x="640080" y="5623560"/>
            <a:ext cx="9509760" cy="731520"/>
          </a:xfrm>
          <a:prstGeom prst="rect">
            <a:avLst/>
          </a:prstGeom>
          <a:noFill/>
        </p:spPr>
        <p:txBody>
          <a:bodyPr wrap="square" lIns="73152" tIns="27432" rIns="73152" bIns="27432" anchor="ctr">
            <a:noAutofit/>
          </a:bodyPr>
          <a:lstStyle/>
          <a:p>
            <a:pPr algn="l">
              <a:lnSpc>
                <a:spcPct val="112000"/>
              </a:lnSpc>
              <a:spcAft>
                <a:spcPts val="600"/>
              </a:spcAft>
            </a:pPr>
            <a:r>
              <a:rPr sz="1600" b="1" i="0">
                <a:solidFill>
                  <a:srgbClr val="4D3727"/>
                </a:solidFill>
                <a:latin typeface="Calibri"/>
              </a:rPr>
              <a:t>The dataset contains 26 diseased classes and 12 healthy classes. Class sizes are uneven, so overall accuracy alone does not tell the whole story.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15" name="Picture 14"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16" name="Picture 15" descr="leaf_06.png"/>
          <p:cNvPicPr>
            <a:picLocks noChangeAspect="1"/>
          </p:cNvPicPr>
          <p:nvPr/>
        </p:nvPicPr>
        <p:blipFill>
          <a:blip r:embed="rId3"/>
          <a:stretch>
            <a:fillRect/>
          </a:stretch>
        </p:blipFill>
        <p:spPr>
          <a:xfrm>
            <a:off x="10927080" y="530352"/>
            <a:ext cx="658368" cy="475488"/>
          </a:xfrm>
          <a:prstGeom prst="rect">
            <a:avLst/>
          </a:prstGeom>
        </p:spPr>
      </p:pic>
      <p:sp>
        <p:nvSpPr>
          <p:cNvPr id="17"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18"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Exploratory Data Analysis (EDA)</a:t>
            </a:r>
          </a:p>
        </p:txBody>
      </p:sp>
      <p:sp>
        <p:nvSpPr>
          <p:cNvPr id="19"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20"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a:solidFill>
                  <a:srgbClr val="4D3727"/>
                </a:solidFill>
                <a:latin typeface="Calibri"/>
              </a:rPr>
              <a:t>06</a:t>
            </a:r>
          </a:p>
        </p:txBody>
      </p:sp>
      <p:sp>
        <p:nvSpPr>
          <p:cNvPr id="21" name="Rounded Rectangle 20"/>
          <p:cNvSpPr/>
          <p:nvPr/>
        </p:nvSpPr>
        <p:spPr>
          <a:xfrm>
            <a:off x="640080" y="1280160"/>
            <a:ext cx="5760720" cy="150876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1389888"/>
            <a:ext cx="64008" cy="128930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1353312"/>
            <a:ext cx="5394960" cy="411480"/>
          </a:xfrm>
          <a:prstGeom prst="rect">
            <a:avLst/>
          </a:prstGeom>
          <a:noFill/>
        </p:spPr>
        <p:txBody>
          <a:bodyPr wrap="square" lIns="73152" tIns="27432" rIns="73152" bIns="27432" anchor="t">
            <a:noAutofit/>
          </a:bodyPr>
          <a:lstStyle/>
          <a:p>
            <a:pPr algn="l">
              <a:lnSpc>
                <a:spcPct val="112000"/>
              </a:lnSpc>
              <a:spcAft>
                <a:spcPts val="600"/>
              </a:spcAft>
            </a:pPr>
            <a:r>
              <a:rPr sz="1900" b="1" i="0">
                <a:solidFill>
                  <a:srgbClr val="4D3727"/>
                </a:solidFill>
                <a:latin typeface="Cambria"/>
              </a:rPr>
              <a:t>Class distribution</a:t>
            </a:r>
          </a:p>
        </p:txBody>
      </p:sp>
      <p:sp>
        <p:nvSpPr>
          <p:cNvPr id="24" name="TextBox 23"/>
          <p:cNvSpPr txBox="1"/>
          <p:nvPr/>
        </p:nvSpPr>
        <p:spPr>
          <a:xfrm>
            <a:off x="868680" y="1783080"/>
            <a:ext cx="5394960" cy="96012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Tomato has 10 of the 38 classes; every other crop has 1 to 4.</a:t>
            </a:r>
          </a:p>
        </p:txBody>
      </p:sp>
      <p:sp>
        <p:nvSpPr>
          <p:cNvPr id="25" name="Rounded Rectangle 24"/>
          <p:cNvSpPr/>
          <p:nvPr/>
        </p:nvSpPr>
        <p:spPr>
          <a:xfrm>
            <a:off x="640080" y="2926080"/>
            <a:ext cx="5760720" cy="150876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 y="3035808"/>
            <a:ext cx="64008" cy="128930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2999232"/>
            <a:ext cx="5394960" cy="411480"/>
          </a:xfrm>
          <a:prstGeom prst="rect">
            <a:avLst/>
          </a:prstGeom>
          <a:noFill/>
        </p:spPr>
        <p:txBody>
          <a:bodyPr wrap="square" lIns="73152" tIns="27432" rIns="73152" bIns="27432" anchor="t">
            <a:noAutofit/>
          </a:bodyPr>
          <a:lstStyle/>
          <a:p>
            <a:pPr algn="l">
              <a:lnSpc>
                <a:spcPct val="112000"/>
              </a:lnSpc>
              <a:spcAft>
                <a:spcPts val="600"/>
              </a:spcAft>
            </a:pPr>
            <a:r>
              <a:rPr sz="1900" b="1" i="0">
                <a:solidFill>
                  <a:srgbClr val="4D3727"/>
                </a:solidFill>
                <a:latin typeface="Cambria"/>
              </a:rPr>
              <a:t>Data imbalance</a:t>
            </a:r>
          </a:p>
        </p:txBody>
      </p:sp>
      <p:sp>
        <p:nvSpPr>
          <p:cNvPr id="28" name="TextBox 27"/>
          <p:cNvSpPr txBox="1"/>
          <p:nvPr/>
        </p:nvSpPr>
        <p:spPr>
          <a:xfrm>
            <a:off x="868680" y="3429000"/>
            <a:ext cx="5394960" cy="96012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Tomato is heavily represented while some classes have far fewer examples, so minority classes are harder to learn.</a:t>
            </a:r>
          </a:p>
        </p:txBody>
      </p:sp>
      <p:sp>
        <p:nvSpPr>
          <p:cNvPr id="29" name="Rounded Rectangle 28"/>
          <p:cNvSpPr/>
          <p:nvPr/>
        </p:nvSpPr>
        <p:spPr>
          <a:xfrm>
            <a:off x="640080" y="4572000"/>
            <a:ext cx="5760720" cy="150876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0080" y="4681728"/>
            <a:ext cx="64008" cy="128930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4645152"/>
            <a:ext cx="5394960" cy="411480"/>
          </a:xfrm>
          <a:prstGeom prst="rect">
            <a:avLst/>
          </a:prstGeom>
          <a:noFill/>
        </p:spPr>
        <p:txBody>
          <a:bodyPr wrap="square" lIns="73152" tIns="27432" rIns="73152" bIns="27432" anchor="t">
            <a:noAutofit/>
          </a:bodyPr>
          <a:lstStyle/>
          <a:p>
            <a:pPr algn="l">
              <a:lnSpc>
                <a:spcPct val="112000"/>
              </a:lnSpc>
              <a:spcAft>
                <a:spcPts val="600"/>
              </a:spcAft>
            </a:pPr>
            <a:r>
              <a:rPr sz="1900" b="1" i="0">
                <a:solidFill>
                  <a:srgbClr val="4D3727"/>
                </a:solidFill>
                <a:latin typeface="Cambria"/>
              </a:rPr>
              <a:t>Image size and brightness</a:t>
            </a:r>
          </a:p>
        </p:txBody>
      </p:sp>
      <p:sp>
        <p:nvSpPr>
          <p:cNvPr id="32" name="TextBox 31"/>
          <p:cNvSpPr txBox="1"/>
          <p:nvPr/>
        </p:nvSpPr>
        <p:spPr>
          <a:xfrm>
            <a:off x="868680" y="5074920"/>
            <a:ext cx="5394960" cy="96012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Inspected for variation across images. Numeric values are not reproduced on this slide.</a:t>
            </a:r>
          </a:p>
        </p:txBody>
      </p:sp>
      <p:graphicFrame>
        <p:nvGraphicFramePr>
          <p:cNvPr id="33" name="Chart 32" descr="Bar chart: 26 diseased classes and 12 healthy classes"/>
          <p:cNvGraphicFramePr>
            <a:graphicFrameLocks noGrp="1"/>
          </p:cNvGraphicFramePr>
          <p:nvPr/>
        </p:nvGraphicFramePr>
        <p:xfrm>
          <a:off x="6675120" y="1188720"/>
          <a:ext cx="493776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34" name="TextBox 33"/>
          <p:cNvSpPr txBox="1"/>
          <p:nvPr/>
        </p:nvSpPr>
        <p:spPr>
          <a:xfrm>
            <a:off x="6675120" y="4846320"/>
            <a:ext cx="4023360" cy="1188720"/>
          </a:xfrm>
          <a:prstGeom prst="rect">
            <a:avLst/>
          </a:prstGeom>
          <a:noFill/>
        </p:spPr>
        <p:txBody>
          <a:bodyPr wrap="square" lIns="73152" tIns="27432" rIns="73152" bIns="27432" anchor="ctr">
            <a:noAutofit/>
          </a:bodyPr>
          <a:lstStyle/>
          <a:p>
            <a:pPr algn="l">
              <a:lnSpc>
                <a:spcPct val="112000"/>
              </a:lnSpc>
              <a:spcAft>
                <a:spcPts val="600"/>
              </a:spcAft>
            </a:pPr>
            <a:r>
              <a:rPr sz="1600" b="1" i="0">
                <a:solidFill>
                  <a:srgbClr val="4D3727"/>
                </a:solidFill>
                <a:latin typeface="Calibri"/>
              </a:rPr>
              <a:t>Takeaway: about two-thirds of the 38 classes are diseased categories, and class sizes are uneven.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16" name="Picture 15"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17" name="Picture 16" descr="leaf_07.png"/>
          <p:cNvPicPr>
            <a:picLocks noChangeAspect="1"/>
          </p:cNvPicPr>
          <p:nvPr/>
        </p:nvPicPr>
        <p:blipFill>
          <a:blip r:embed="rId3"/>
          <a:stretch>
            <a:fillRect/>
          </a:stretch>
        </p:blipFill>
        <p:spPr>
          <a:xfrm>
            <a:off x="10927080" y="530352"/>
            <a:ext cx="658368" cy="475488"/>
          </a:xfrm>
          <a:prstGeom prst="rect">
            <a:avLst/>
          </a:prstGeom>
        </p:spPr>
      </p:pic>
      <p:sp>
        <p:nvSpPr>
          <p:cNvPr id="18"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19"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Class Distribution by Crop</a:t>
            </a:r>
          </a:p>
        </p:txBody>
      </p:sp>
      <p:sp>
        <p:nvSpPr>
          <p:cNvPr id="20"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21"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a:solidFill>
                  <a:srgbClr val="4D3727"/>
                </a:solidFill>
                <a:latin typeface="Calibri"/>
              </a:rPr>
              <a:t>07</a:t>
            </a:r>
          </a:p>
        </p:txBody>
      </p:sp>
      <p:graphicFrame>
        <p:nvGraphicFramePr>
          <p:cNvPr id="22" name="Chart 21" descr="Bar chart of number of classes per crop: Tomato 10, Apple 4, Grape 4, Corn 4, Potato 3, Cherry 2, Peach 2, Bell pepper 2, Strawberry 2, Orange 1, Squash 1, Blueberry 1, Raspberry 1, Soybean 1"/>
          <p:cNvGraphicFramePr>
            <a:graphicFrameLocks noGrp="1"/>
          </p:cNvGraphicFramePr>
          <p:nvPr/>
        </p:nvGraphicFramePr>
        <p:xfrm>
          <a:off x="548640" y="1143000"/>
          <a:ext cx="7406640" cy="5166360"/>
        </p:xfrm>
        <a:graphic>
          <a:graphicData uri="http://schemas.openxmlformats.org/drawingml/2006/chart">
            <c:chart xmlns:c="http://schemas.openxmlformats.org/drawingml/2006/chart" xmlns:r="http://schemas.openxmlformats.org/officeDocument/2006/relationships" r:id="rId4"/>
          </a:graphicData>
        </a:graphic>
      </p:graphicFrame>
      <p:sp>
        <p:nvSpPr>
          <p:cNvPr id="23" name="Rounded Rectangle 22"/>
          <p:cNvSpPr/>
          <p:nvPr/>
        </p:nvSpPr>
        <p:spPr>
          <a:xfrm>
            <a:off x="8229600" y="1325880"/>
            <a:ext cx="3383280" cy="420624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229600" y="1435607"/>
            <a:ext cx="64008" cy="398678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58200" y="1417320"/>
            <a:ext cx="301752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Takeaway</a:t>
            </a:r>
          </a:p>
        </p:txBody>
      </p:sp>
      <p:sp>
        <p:nvSpPr>
          <p:cNvPr id="26" name="TextBox 25"/>
          <p:cNvSpPr txBox="1"/>
          <p:nvPr/>
        </p:nvSpPr>
        <p:spPr>
          <a:xfrm>
            <a:off x="8458200" y="1965960"/>
            <a:ext cx="3017520" cy="3200400"/>
          </a:xfrm>
          <a:prstGeom prst="rect">
            <a:avLst/>
          </a:prstGeom>
          <a:noFill/>
        </p:spPr>
        <p:txBody>
          <a:bodyPr wrap="square" lIns="73152" tIns="27432" rIns="73152" bIns="27432" anchor="t">
            <a:noAutofit/>
          </a:bodyPr>
          <a:lstStyle/>
          <a:p>
            <a:pPr marL="246888" indent="-246888" algn="l">
              <a:lnSpc>
                <a:spcPct val="112000"/>
              </a:lnSpc>
              <a:spcAft>
                <a:spcPts val="1300"/>
              </a:spcAft>
              <a:buClr>
                <a:srgbClr val="2B5B3A"/>
              </a:buClr>
              <a:buFont typeface="Arial"/>
              <a:buChar char="•"/>
            </a:pPr>
            <a:r>
              <a:rPr sz="1700" b="0" i="0">
                <a:solidFill>
                  <a:srgbClr val="4D3727"/>
                </a:solidFill>
                <a:latin typeface="Calibri"/>
              </a:rPr>
              <a:t>Classes are unevenly spread across crops.</a:t>
            </a:r>
          </a:p>
          <a:p>
            <a:pPr marL="246888" indent="-246888" algn="l">
              <a:lnSpc>
                <a:spcPct val="112000"/>
              </a:lnSpc>
              <a:spcAft>
                <a:spcPts val="1300"/>
              </a:spcAft>
              <a:buClr>
                <a:srgbClr val="2B5B3A"/>
              </a:buClr>
              <a:buFont typeface="Arial"/>
              <a:buChar char="•"/>
            </a:pPr>
            <a:r>
              <a:rPr sz="1700" b="0" i="0">
                <a:solidFill>
                  <a:srgbClr val="4D3727"/>
                </a:solidFill>
                <a:latin typeface="Calibri"/>
              </a:rPr>
              <a:t>Tomato has 10 classes, the most.</a:t>
            </a:r>
          </a:p>
          <a:p>
            <a:pPr marL="246888" indent="-246888" algn="l">
              <a:lnSpc>
                <a:spcPct val="112000"/>
              </a:lnSpc>
              <a:spcAft>
                <a:spcPts val="1300"/>
              </a:spcAft>
              <a:buClr>
                <a:srgbClr val="2B5B3A"/>
              </a:buClr>
              <a:buFont typeface="Arial"/>
              <a:buChar char="•"/>
            </a:pPr>
            <a:r>
              <a:rPr sz="1700" b="0" i="0">
                <a:solidFill>
                  <a:srgbClr val="4D3727"/>
                </a:solidFill>
                <a:latin typeface="Calibri"/>
              </a:rPr>
              <a:t>Five crops have just one class each.</a:t>
            </a:r>
          </a:p>
          <a:p>
            <a:pPr marL="246888" indent="-246888" algn="l">
              <a:lnSpc>
                <a:spcPct val="112000"/>
              </a:lnSpc>
              <a:spcAft>
                <a:spcPts val="1300"/>
              </a:spcAft>
              <a:buClr>
                <a:srgbClr val="2B5B3A"/>
              </a:buClr>
              <a:buFont typeface="Arial"/>
              <a:buChar char="•"/>
            </a:pPr>
            <a:r>
              <a:rPr sz="1700" b="0" i="0">
                <a:solidFill>
                  <a:srgbClr val="4D3727"/>
                </a:solidFill>
                <a:latin typeface="Calibri"/>
              </a:rPr>
              <a:t>Unknown diseases may be misclassified.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A08D9F42-A450-24EF-AEFC-CE67C9097700}"/>
              </a:ext>
            </a:extLst>
          </p:cNvPr>
          <p:cNvPicPr>
            <a:picLocks noChangeAspect="1"/>
          </p:cNvPicPr>
          <p:nvPr/>
        </p:nvPicPr>
        <p:blipFill>
          <a:blip r:embed="rId2"/>
          <a:stretch>
            <a:fillRect/>
          </a:stretch>
        </p:blipFill>
        <p:spPr>
          <a:xfrm>
            <a:off x="0" y="0"/>
            <a:ext cx="12192000" cy="6857999"/>
          </a:xfrm>
          <a:prstGeom prst="rect">
            <a:avLst/>
          </a:prstGeom>
        </p:spPr>
      </p:pic>
      <p:sp>
        <p:nvSpPr>
          <p:cNvPr id="2" name="TextBox 1">
            <a:extLst>
              <a:ext uri="{FF2B5EF4-FFF2-40B4-BE49-F238E27FC236}">
                <a16:creationId xmlns:a16="http://schemas.microsoft.com/office/drawing/2014/main" id="{22A0CB7E-1439-09B3-5C44-B4333BA7E48D}"/>
              </a:ext>
            </a:extLst>
          </p:cNvPr>
          <p:cNvSpPr txBox="1"/>
          <p:nvPr/>
        </p:nvSpPr>
        <p:spPr>
          <a:xfrm>
            <a:off x="566928" y="228600"/>
            <a:ext cx="6583680" cy="228600"/>
          </a:xfrm>
          <a:prstGeom prst="rect">
            <a:avLst/>
          </a:prstGeom>
          <a:noFill/>
        </p:spPr>
        <p:txBody>
          <a:bodyPr wrap="square" lIns="36576" tIns="36576" rIns="36576" bIns="36576" anchor="t">
            <a:spAutoFit/>
          </a:bodyPr>
          <a:lstStyle/>
          <a:p>
            <a:pPr algn="l">
              <a:defRPr sz="1000" b="1">
                <a:solidFill>
                  <a:srgbClr val="5B3B27"/>
                </a:solidFill>
                <a:latin typeface="Aptos"/>
              </a:defRPr>
            </a:pPr>
            <a:r>
              <a:t>PLANT RX  |  M.SC. APPLIED DATA SCIENCE</a:t>
            </a:r>
          </a:p>
        </p:txBody>
      </p:sp>
      <p:sp>
        <p:nvSpPr>
          <p:cNvPr id="3" name="TextBox 2">
            <a:extLst>
              <a:ext uri="{FF2B5EF4-FFF2-40B4-BE49-F238E27FC236}">
                <a16:creationId xmlns:a16="http://schemas.microsoft.com/office/drawing/2014/main" id="{6F6F2A1F-66F8-3A0D-A08F-737B289639BA}"/>
              </a:ext>
            </a:extLst>
          </p:cNvPr>
          <p:cNvSpPr txBox="1"/>
          <p:nvPr/>
        </p:nvSpPr>
        <p:spPr>
          <a:xfrm>
            <a:off x="566928" y="566928"/>
            <a:ext cx="10972800" cy="502920"/>
          </a:xfrm>
          <a:prstGeom prst="rect">
            <a:avLst/>
          </a:prstGeom>
          <a:noFill/>
        </p:spPr>
        <p:txBody>
          <a:bodyPr wrap="square" lIns="36576" tIns="36576" rIns="36576" bIns="36576" anchor="t">
            <a:spAutoFit/>
          </a:bodyPr>
          <a:lstStyle/>
          <a:p>
            <a:pPr algn="l">
              <a:defRPr sz="2800" b="1">
                <a:solidFill>
                  <a:srgbClr val="5B3B27"/>
                </a:solidFill>
                <a:latin typeface="Georgia"/>
              </a:defRPr>
            </a:pPr>
            <a:r>
              <a:t>Plant Disease Detection Workflow</a:t>
            </a:r>
          </a:p>
        </p:txBody>
      </p:sp>
      <p:sp>
        <p:nvSpPr>
          <p:cNvPr id="4" name="TextBox 3">
            <a:extLst>
              <a:ext uri="{FF2B5EF4-FFF2-40B4-BE49-F238E27FC236}">
                <a16:creationId xmlns:a16="http://schemas.microsoft.com/office/drawing/2014/main" id="{916D4F42-135D-C711-8D0C-F63A1BB51273}"/>
              </a:ext>
            </a:extLst>
          </p:cNvPr>
          <p:cNvSpPr txBox="1"/>
          <p:nvPr/>
        </p:nvSpPr>
        <p:spPr>
          <a:xfrm>
            <a:off x="603504" y="1115568"/>
            <a:ext cx="10789920" cy="329184"/>
          </a:xfrm>
          <a:prstGeom prst="rect">
            <a:avLst/>
          </a:prstGeom>
          <a:noFill/>
        </p:spPr>
        <p:txBody>
          <a:bodyPr wrap="square" lIns="36576" tIns="36576" rIns="36576" bIns="36576" anchor="t">
            <a:spAutoFit/>
          </a:bodyPr>
          <a:lstStyle/>
          <a:p>
            <a:pPr algn="l">
              <a:defRPr sz="1300" b="0">
                <a:solidFill>
                  <a:srgbClr val="786958"/>
                </a:solidFill>
                <a:latin typeface="Aptos"/>
              </a:defRPr>
            </a:pPr>
            <a:r>
              <a:t>End-to-end process: from uploading a leaf image to displaying useful guidance</a:t>
            </a:r>
          </a:p>
        </p:txBody>
      </p:sp>
      <p:sp>
        <p:nvSpPr>
          <p:cNvPr id="5" name="Oval 4">
            <a:extLst>
              <a:ext uri="{FF2B5EF4-FFF2-40B4-BE49-F238E27FC236}">
                <a16:creationId xmlns:a16="http://schemas.microsoft.com/office/drawing/2014/main" id="{F5775BA8-C4FB-9972-9837-1D161637EF76}"/>
              </a:ext>
            </a:extLst>
          </p:cNvPr>
          <p:cNvSpPr/>
          <p:nvPr/>
        </p:nvSpPr>
        <p:spPr>
          <a:xfrm rot="19920000">
            <a:off x="11201400" y="320040"/>
            <a:ext cx="310896" cy="155448"/>
          </a:xfrm>
          <a:prstGeom prst="ellipse">
            <a:avLst/>
          </a:prstGeom>
          <a:solidFill>
            <a:srgbClr val="82A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8D25BD1-817B-980A-9A8F-79C143E0EF2D}"/>
              </a:ext>
            </a:extLst>
          </p:cNvPr>
          <p:cNvSpPr txBox="1"/>
          <p:nvPr/>
        </p:nvSpPr>
        <p:spPr>
          <a:xfrm>
            <a:off x="566928" y="6510528"/>
            <a:ext cx="5943600" cy="182880"/>
          </a:xfrm>
          <a:prstGeom prst="rect">
            <a:avLst/>
          </a:prstGeom>
          <a:noFill/>
        </p:spPr>
        <p:txBody>
          <a:bodyPr wrap="square" lIns="36576" tIns="36576" rIns="36576" bIns="36576" anchor="t">
            <a:spAutoFit/>
          </a:bodyPr>
          <a:lstStyle/>
          <a:p>
            <a:pPr algn="l">
              <a:defRPr sz="900" b="1">
                <a:solidFill>
                  <a:srgbClr val="5B3B27"/>
                </a:solidFill>
                <a:latin typeface="Aptos"/>
              </a:defRPr>
            </a:pPr>
            <a:r>
              <a:t>PLANT DISEASE DETECTION SYSTEM</a:t>
            </a:r>
          </a:p>
        </p:txBody>
      </p:sp>
      <p:sp>
        <p:nvSpPr>
          <p:cNvPr id="7" name="TextBox 6">
            <a:extLst>
              <a:ext uri="{FF2B5EF4-FFF2-40B4-BE49-F238E27FC236}">
                <a16:creationId xmlns:a16="http://schemas.microsoft.com/office/drawing/2014/main" id="{FAA4C28F-23C2-CA79-DB8B-A0C6F1169F5E}"/>
              </a:ext>
            </a:extLst>
          </p:cNvPr>
          <p:cNvSpPr txBox="1"/>
          <p:nvPr/>
        </p:nvSpPr>
        <p:spPr>
          <a:xfrm>
            <a:off x="11247120" y="6473952"/>
            <a:ext cx="365760" cy="227755"/>
          </a:xfrm>
          <a:prstGeom prst="rect">
            <a:avLst/>
          </a:prstGeom>
          <a:noFill/>
        </p:spPr>
        <p:txBody>
          <a:bodyPr wrap="square" lIns="36576" tIns="36576" rIns="36576" bIns="36576" anchor="t">
            <a:spAutoFit/>
          </a:bodyPr>
          <a:lstStyle/>
          <a:p>
            <a:pPr algn="r">
              <a:defRPr sz="1000" b="1">
                <a:solidFill>
                  <a:srgbClr val="5B3B27"/>
                </a:solidFill>
                <a:latin typeface="Aptos"/>
              </a:defRPr>
            </a:pPr>
            <a:r>
              <a:rPr dirty="0"/>
              <a:t>0</a:t>
            </a:r>
            <a:r>
              <a:rPr lang="en-US" dirty="0"/>
              <a:t>8</a:t>
            </a:r>
            <a:endParaRPr dirty="0"/>
          </a:p>
        </p:txBody>
      </p:sp>
      <p:sp>
        <p:nvSpPr>
          <p:cNvPr id="8" name="Rounded Rectangle 7">
            <a:extLst>
              <a:ext uri="{FF2B5EF4-FFF2-40B4-BE49-F238E27FC236}">
                <a16:creationId xmlns:a16="http://schemas.microsoft.com/office/drawing/2014/main" id="{9C8F9F3E-A4E7-AC8C-6DF4-B6C406326972}"/>
              </a:ext>
            </a:extLst>
          </p:cNvPr>
          <p:cNvSpPr/>
          <p:nvPr/>
        </p:nvSpPr>
        <p:spPr>
          <a:xfrm>
            <a:off x="530352" y="2788920"/>
            <a:ext cx="2057400" cy="1828800"/>
          </a:xfrm>
          <a:prstGeom prst="roundRect">
            <a:avLst/>
          </a:prstGeom>
          <a:solidFill>
            <a:srgbClr val="FFFDF7"/>
          </a:solidFill>
          <a:ln w="22860">
            <a:solidFill>
              <a:srgbClr val="2C6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80D7996E-9125-AC19-26BA-E1C76DEAAC57}"/>
              </a:ext>
            </a:extLst>
          </p:cNvPr>
          <p:cNvSpPr/>
          <p:nvPr/>
        </p:nvSpPr>
        <p:spPr>
          <a:xfrm>
            <a:off x="1357884" y="2578608"/>
            <a:ext cx="402336" cy="402336"/>
          </a:xfrm>
          <a:prstGeom prst="ellipse">
            <a:avLst/>
          </a:prstGeom>
          <a:solidFill>
            <a:srgbClr val="2C6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DF7"/>
                </a:solidFill>
                <a:latin typeface="Aptos"/>
              </a:defRPr>
            </a:pPr>
            <a:r>
              <a:t>1</a:t>
            </a:r>
          </a:p>
        </p:txBody>
      </p:sp>
      <p:sp>
        <p:nvSpPr>
          <p:cNvPr id="10" name="TextBox 9">
            <a:extLst>
              <a:ext uri="{FF2B5EF4-FFF2-40B4-BE49-F238E27FC236}">
                <a16:creationId xmlns:a16="http://schemas.microsoft.com/office/drawing/2014/main" id="{C3DC812A-ADD8-3BC0-E168-25659F916FE9}"/>
              </a:ext>
            </a:extLst>
          </p:cNvPr>
          <p:cNvSpPr txBox="1"/>
          <p:nvPr/>
        </p:nvSpPr>
        <p:spPr>
          <a:xfrm>
            <a:off x="603503" y="3008376"/>
            <a:ext cx="1911095" cy="640080"/>
          </a:xfrm>
          <a:prstGeom prst="rect">
            <a:avLst/>
          </a:prstGeom>
          <a:noFill/>
        </p:spPr>
        <p:txBody>
          <a:bodyPr wrap="square" lIns="36576" tIns="36576" rIns="36576" bIns="36576" anchor="ctr">
            <a:spAutoFit/>
          </a:bodyPr>
          <a:lstStyle/>
          <a:p>
            <a:pPr algn="ctr">
              <a:defRPr sz="1500" b="1">
                <a:solidFill>
                  <a:srgbClr val="5B3B27"/>
                </a:solidFill>
                <a:latin typeface="Aptos"/>
              </a:defRPr>
            </a:pPr>
            <a:r>
              <a:t>Upload leaf</a:t>
            </a:r>
            <a:br/>
            <a:r>
              <a:t>image</a:t>
            </a:r>
          </a:p>
        </p:txBody>
      </p:sp>
      <p:sp>
        <p:nvSpPr>
          <p:cNvPr id="11" name="TextBox 10">
            <a:extLst>
              <a:ext uri="{FF2B5EF4-FFF2-40B4-BE49-F238E27FC236}">
                <a16:creationId xmlns:a16="http://schemas.microsoft.com/office/drawing/2014/main" id="{73EF04E9-9F6C-51FE-33EB-51D97F648833}"/>
              </a:ext>
            </a:extLst>
          </p:cNvPr>
          <p:cNvSpPr txBox="1"/>
          <p:nvPr/>
        </p:nvSpPr>
        <p:spPr>
          <a:xfrm>
            <a:off x="621792" y="3675887"/>
            <a:ext cx="1874519" cy="868680"/>
          </a:xfrm>
          <a:prstGeom prst="rect">
            <a:avLst/>
          </a:prstGeom>
          <a:noFill/>
        </p:spPr>
        <p:txBody>
          <a:bodyPr wrap="square" lIns="36576" tIns="36576" rIns="36576" bIns="36576" anchor="t">
            <a:spAutoFit/>
          </a:bodyPr>
          <a:lstStyle/>
          <a:p>
            <a:pPr algn="ctr">
              <a:defRPr sz="1050" b="0">
                <a:solidFill>
                  <a:srgbClr val="463B31"/>
                </a:solidFill>
                <a:latin typeface="Aptos"/>
              </a:defRPr>
            </a:pPr>
            <a:r>
              <a:t>User uploads a leaf photo</a:t>
            </a:r>
            <a:br/>
            <a:r>
              <a:t>and selects plant details</a:t>
            </a:r>
          </a:p>
        </p:txBody>
      </p:sp>
      <p:sp>
        <p:nvSpPr>
          <p:cNvPr id="12" name="Chevron 11">
            <a:extLst>
              <a:ext uri="{FF2B5EF4-FFF2-40B4-BE49-F238E27FC236}">
                <a16:creationId xmlns:a16="http://schemas.microsoft.com/office/drawing/2014/main" id="{47121083-21FB-D84E-3F9E-C1795A0B0C1D}"/>
              </a:ext>
            </a:extLst>
          </p:cNvPr>
          <p:cNvSpPr/>
          <p:nvPr/>
        </p:nvSpPr>
        <p:spPr>
          <a:xfrm>
            <a:off x="2619756" y="3483863"/>
            <a:ext cx="201168" cy="411480"/>
          </a:xfrm>
          <a:prstGeom prst="chevron">
            <a:avLst/>
          </a:prstGeom>
          <a:solidFill>
            <a:srgbClr val="82A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a:extLst>
              <a:ext uri="{FF2B5EF4-FFF2-40B4-BE49-F238E27FC236}">
                <a16:creationId xmlns:a16="http://schemas.microsoft.com/office/drawing/2014/main" id="{7680C47B-2749-C5C6-8206-5DEEB07F3210}"/>
              </a:ext>
            </a:extLst>
          </p:cNvPr>
          <p:cNvSpPr/>
          <p:nvPr/>
        </p:nvSpPr>
        <p:spPr>
          <a:xfrm>
            <a:off x="2843784" y="2788920"/>
            <a:ext cx="2057400" cy="1828800"/>
          </a:xfrm>
          <a:prstGeom prst="roundRect">
            <a:avLst/>
          </a:prstGeom>
          <a:solidFill>
            <a:srgbClr val="FFFDF7"/>
          </a:solidFill>
          <a:ln w="22860">
            <a:solidFill>
              <a:srgbClr val="2C6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7B2F11C3-F854-1689-FA4C-3408C43DB122}"/>
              </a:ext>
            </a:extLst>
          </p:cNvPr>
          <p:cNvSpPr/>
          <p:nvPr/>
        </p:nvSpPr>
        <p:spPr>
          <a:xfrm>
            <a:off x="3671316" y="2578608"/>
            <a:ext cx="402336" cy="402336"/>
          </a:xfrm>
          <a:prstGeom prst="ellipse">
            <a:avLst/>
          </a:prstGeom>
          <a:solidFill>
            <a:srgbClr val="2C6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DF7"/>
                </a:solidFill>
                <a:latin typeface="Aptos"/>
              </a:defRPr>
            </a:pPr>
            <a:r>
              <a:t>2</a:t>
            </a:r>
          </a:p>
        </p:txBody>
      </p:sp>
      <p:sp>
        <p:nvSpPr>
          <p:cNvPr id="15" name="TextBox 14">
            <a:extLst>
              <a:ext uri="{FF2B5EF4-FFF2-40B4-BE49-F238E27FC236}">
                <a16:creationId xmlns:a16="http://schemas.microsoft.com/office/drawing/2014/main" id="{46EEF34E-420E-855D-A31C-41D26005FA6B}"/>
              </a:ext>
            </a:extLst>
          </p:cNvPr>
          <p:cNvSpPr txBox="1"/>
          <p:nvPr/>
        </p:nvSpPr>
        <p:spPr>
          <a:xfrm>
            <a:off x="2916936" y="3008376"/>
            <a:ext cx="1911095" cy="640080"/>
          </a:xfrm>
          <a:prstGeom prst="rect">
            <a:avLst/>
          </a:prstGeom>
          <a:noFill/>
        </p:spPr>
        <p:txBody>
          <a:bodyPr wrap="square" lIns="36576" tIns="36576" rIns="36576" bIns="36576" anchor="ctr">
            <a:spAutoFit/>
          </a:bodyPr>
          <a:lstStyle/>
          <a:p>
            <a:pPr algn="ctr">
              <a:defRPr sz="1500" b="1">
                <a:solidFill>
                  <a:srgbClr val="5B3B27"/>
                </a:solidFill>
                <a:latin typeface="Aptos"/>
              </a:defRPr>
            </a:pPr>
            <a:r>
              <a:t>Preprocess</a:t>
            </a:r>
            <a:br/>
            <a:r>
              <a:t>image</a:t>
            </a:r>
          </a:p>
        </p:txBody>
      </p:sp>
      <p:sp>
        <p:nvSpPr>
          <p:cNvPr id="16" name="TextBox 15">
            <a:extLst>
              <a:ext uri="{FF2B5EF4-FFF2-40B4-BE49-F238E27FC236}">
                <a16:creationId xmlns:a16="http://schemas.microsoft.com/office/drawing/2014/main" id="{16937E60-F5C7-DDBA-2109-BFEBED0E6FCB}"/>
              </a:ext>
            </a:extLst>
          </p:cNvPr>
          <p:cNvSpPr txBox="1"/>
          <p:nvPr/>
        </p:nvSpPr>
        <p:spPr>
          <a:xfrm>
            <a:off x="2935224" y="3675887"/>
            <a:ext cx="1874519" cy="868680"/>
          </a:xfrm>
          <a:prstGeom prst="rect">
            <a:avLst/>
          </a:prstGeom>
          <a:noFill/>
        </p:spPr>
        <p:txBody>
          <a:bodyPr wrap="square" lIns="36576" tIns="36576" rIns="36576" bIns="36576" anchor="t">
            <a:spAutoFit/>
          </a:bodyPr>
          <a:lstStyle/>
          <a:p>
            <a:pPr algn="ctr">
              <a:defRPr sz="1050" b="0">
                <a:solidFill>
                  <a:srgbClr val="463B31"/>
                </a:solidFill>
                <a:latin typeface="Aptos"/>
              </a:defRPr>
            </a:pPr>
            <a:r>
              <a:t>Resize, normalize and</a:t>
            </a:r>
            <a:br/>
            <a:r>
              <a:t>prepare the image</a:t>
            </a:r>
          </a:p>
        </p:txBody>
      </p:sp>
      <p:sp>
        <p:nvSpPr>
          <p:cNvPr id="17" name="Chevron 16">
            <a:extLst>
              <a:ext uri="{FF2B5EF4-FFF2-40B4-BE49-F238E27FC236}">
                <a16:creationId xmlns:a16="http://schemas.microsoft.com/office/drawing/2014/main" id="{772ACFF0-6110-7603-288E-D46C051B2D97}"/>
              </a:ext>
            </a:extLst>
          </p:cNvPr>
          <p:cNvSpPr/>
          <p:nvPr/>
        </p:nvSpPr>
        <p:spPr>
          <a:xfrm>
            <a:off x="4933188" y="3483863"/>
            <a:ext cx="201168" cy="411480"/>
          </a:xfrm>
          <a:prstGeom prst="chevron">
            <a:avLst/>
          </a:prstGeom>
          <a:solidFill>
            <a:srgbClr val="82A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1DCC84B6-F6D2-B38F-FD98-3AABAC6A58C5}"/>
              </a:ext>
            </a:extLst>
          </p:cNvPr>
          <p:cNvSpPr/>
          <p:nvPr/>
        </p:nvSpPr>
        <p:spPr>
          <a:xfrm>
            <a:off x="5157216" y="2788920"/>
            <a:ext cx="2057400" cy="1828800"/>
          </a:xfrm>
          <a:prstGeom prst="roundRect">
            <a:avLst/>
          </a:prstGeom>
          <a:solidFill>
            <a:srgbClr val="FFFDF7"/>
          </a:solidFill>
          <a:ln w="22860">
            <a:solidFill>
              <a:srgbClr val="2C6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a:extLst>
              <a:ext uri="{FF2B5EF4-FFF2-40B4-BE49-F238E27FC236}">
                <a16:creationId xmlns:a16="http://schemas.microsoft.com/office/drawing/2014/main" id="{C2580E33-790F-FAAE-A6E0-6C57F1495AE3}"/>
              </a:ext>
            </a:extLst>
          </p:cNvPr>
          <p:cNvSpPr/>
          <p:nvPr/>
        </p:nvSpPr>
        <p:spPr>
          <a:xfrm>
            <a:off x="5984748" y="2578608"/>
            <a:ext cx="402336" cy="402336"/>
          </a:xfrm>
          <a:prstGeom prst="ellipse">
            <a:avLst/>
          </a:prstGeom>
          <a:solidFill>
            <a:srgbClr val="2C6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DF7"/>
                </a:solidFill>
                <a:latin typeface="Aptos"/>
              </a:defRPr>
            </a:pPr>
            <a:r>
              <a:t>3</a:t>
            </a:r>
          </a:p>
        </p:txBody>
      </p:sp>
      <p:sp>
        <p:nvSpPr>
          <p:cNvPr id="20" name="TextBox 19">
            <a:extLst>
              <a:ext uri="{FF2B5EF4-FFF2-40B4-BE49-F238E27FC236}">
                <a16:creationId xmlns:a16="http://schemas.microsoft.com/office/drawing/2014/main" id="{21AF7ADC-FA52-6337-F4DB-20B5521CC063}"/>
              </a:ext>
            </a:extLst>
          </p:cNvPr>
          <p:cNvSpPr txBox="1"/>
          <p:nvPr/>
        </p:nvSpPr>
        <p:spPr>
          <a:xfrm>
            <a:off x="5230368" y="3008376"/>
            <a:ext cx="1911095" cy="640080"/>
          </a:xfrm>
          <a:prstGeom prst="rect">
            <a:avLst/>
          </a:prstGeom>
          <a:noFill/>
        </p:spPr>
        <p:txBody>
          <a:bodyPr wrap="square" lIns="36576" tIns="36576" rIns="36576" bIns="36576" anchor="ctr">
            <a:spAutoFit/>
          </a:bodyPr>
          <a:lstStyle/>
          <a:p>
            <a:pPr algn="ctr">
              <a:defRPr sz="1500" b="1">
                <a:solidFill>
                  <a:srgbClr val="5B3B27"/>
                </a:solidFill>
                <a:latin typeface="Aptos"/>
              </a:defRPr>
            </a:pPr>
            <a:r>
              <a:t>Predict disease</a:t>
            </a:r>
            <a:br/>
            <a:r>
              <a:t>class</a:t>
            </a:r>
          </a:p>
        </p:txBody>
      </p:sp>
      <p:sp>
        <p:nvSpPr>
          <p:cNvPr id="21" name="TextBox 20">
            <a:extLst>
              <a:ext uri="{FF2B5EF4-FFF2-40B4-BE49-F238E27FC236}">
                <a16:creationId xmlns:a16="http://schemas.microsoft.com/office/drawing/2014/main" id="{2FD2864C-9663-D8C5-5D0B-C9D799C94690}"/>
              </a:ext>
            </a:extLst>
          </p:cNvPr>
          <p:cNvSpPr txBox="1"/>
          <p:nvPr/>
        </p:nvSpPr>
        <p:spPr>
          <a:xfrm>
            <a:off x="5248656" y="3675887"/>
            <a:ext cx="1874519" cy="868680"/>
          </a:xfrm>
          <a:prstGeom prst="rect">
            <a:avLst/>
          </a:prstGeom>
          <a:noFill/>
        </p:spPr>
        <p:txBody>
          <a:bodyPr wrap="square" lIns="36576" tIns="36576" rIns="36576" bIns="36576" anchor="t">
            <a:spAutoFit/>
          </a:bodyPr>
          <a:lstStyle/>
          <a:p>
            <a:pPr algn="ctr">
              <a:defRPr sz="1050" b="0">
                <a:solidFill>
                  <a:srgbClr val="463B31"/>
                </a:solidFill>
                <a:latin typeface="Aptos"/>
              </a:defRPr>
            </a:pPr>
            <a:r>
              <a:t>MobileNetV2 analyses</a:t>
            </a:r>
            <a:br/>
            <a:r>
              <a:t>visual leaf patterns</a:t>
            </a:r>
          </a:p>
        </p:txBody>
      </p:sp>
      <p:sp>
        <p:nvSpPr>
          <p:cNvPr id="22" name="Chevron 21">
            <a:extLst>
              <a:ext uri="{FF2B5EF4-FFF2-40B4-BE49-F238E27FC236}">
                <a16:creationId xmlns:a16="http://schemas.microsoft.com/office/drawing/2014/main" id="{1137D34F-7AAE-D9D7-5F6C-445D7D8E007D}"/>
              </a:ext>
            </a:extLst>
          </p:cNvPr>
          <p:cNvSpPr/>
          <p:nvPr/>
        </p:nvSpPr>
        <p:spPr>
          <a:xfrm>
            <a:off x="7246620" y="3483863"/>
            <a:ext cx="201168" cy="411480"/>
          </a:xfrm>
          <a:prstGeom prst="chevron">
            <a:avLst/>
          </a:prstGeom>
          <a:solidFill>
            <a:srgbClr val="82A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a:extLst>
              <a:ext uri="{FF2B5EF4-FFF2-40B4-BE49-F238E27FC236}">
                <a16:creationId xmlns:a16="http://schemas.microsoft.com/office/drawing/2014/main" id="{B87BA33B-19F0-C5CA-CBE8-F8C0D6F85889}"/>
              </a:ext>
            </a:extLst>
          </p:cNvPr>
          <p:cNvSpPr/>
          <p:nvPr/>
        </p:nvSpPr>
        <p:spPr>
          <a:xfrm>
            <a:off x="7470648" y="2788920"/>
            <a:ext cx="2057400" cy="1828800"/>
          </a:xfrm>
          <a:prstGeom prst="roundRect">
            <a:avLst/>
          </a:prstGeom>
          <a:solidFill>
            <a:srgbClr val="FFFDF7"/>
          </a:solidFill>
          <a:ln w="22860">
            <a:solidFill>
              <a:srgbClr val="2C6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a:extLst>
              <a:ext uri="{FF2B5EF4-FFF2-40B4-BE49-F238E27FC236}">
                <a16:creationId xmlns:a16="http://schemas.microsoft.com/office/drawing/2014/main" id="{33847C95-444F-50A0-A105-A40ED781E2B0}"/>
              </a:ext>
            </a:extLst>
          </p:cNvPr>
          <p:cNvSpPr/>
          <p:nvPr/>
        </p:nvSpPr>
        <p:spPr>
          <a:xfrm>
            <a:off x="8298179" y="2578608"/>
            <a:ext cx="402336" cy="402336"/>
          </a:xfrm>
          <a:prstGeom prst="ellipse">
            <a:avLst/>
          </a:prstGeom>
          <a:solidFill>
            <a:srgbClr val="2C6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DF7"/>
                </a:solidFill>
                <a:latin typeface="Aptos"/>
              </a:defRPr>
            </a:pPr>
            <a:r>
              <a:t>4</a:t>
            </a:r>
          </a:p>
        </p:txBody>
      </p:sp>
      <p:sp>
        <p:nvSpPr>
          <p:cNvPr id="25" name="TextBox 24">
            <a:extLst>
              <a:ext uri="{FF2B5EF4-FFF2-40B4-BE49-F238E27FC236}">
                <a16:creationId xmlns:a16="http://schemas.microsoft.com/office/drawing/2014/main" id="{DDB381F7-E5F4-8C5D-1355-6CE48D7F9212}"/>
              </a:ext>
            </a:extLst>
          </p:cNvPr>
          <p:cNvSpPr txBox="1"/>
          <p:nvPr/>
        </p:nvSpPr>
        <p:spPr>
          <a:xfrm>
            <a:off x="7543800" y="3008376"/>
            <a:ext cx="1911095" cy="640080"/>
          </a:xfrm>
          <a:prstGeom prst="rect">
            <a:avLst/>
          </a:prstGeom>
          <a:noFill/>
        </p:spPr>
        <p:txBody>
          <a:bodyPr wrap="square" lIns="36576" tIns="36576" rIns="36576" bIns="36576" anchor="ctr">
            <a:spAutoFit/>
          </a:bodyPr>
          <a:lstStyle/>
          <a:p>
            <a:pPr algn="ctr">
              <a:defRPr sz="1500" b="1">
                <a:solidFill>
                  <a:srgbClr val="5B3B27"/>
                </a:solidFill>
                <a:latin typeface="Aptos"/>
              </a:defRPr>
            </a:pPr>
            <a:r>
              <a:t>Retrieve disease</a:t>
            </a:r>
            <a:br/>
            <a:r>
              <a:t>guidance</a:t>
            </a:r>
          </a:p>
        </p:txBody>
      </p:sp>
      <p:sp>
        <p:nvSpPr>
          <p:cNvPr id="26" name="TextBox 25">
            <a:extLst>
              <a:ext uri="{FF2B5EF4-FFF2-40B4-BE49-F238E27FC236}">
                <a16:creationId xmlns:a16="http://schemas.microsoft.com/office/drawing/2014/main" id="{B0838B16-E13E-EAA1-1D2B-CA6D824A5A62}"/>
              </a:ext>
            </a:extLst>
          </p:cNvPr>
          <p:cNvSpPr txBox="1"/>
          <p:nvPr/>
        </p:nvSpPr>
        <p:spPr>
          <a:xfrm>
            <a:off x="7562088" y="3675887"/>
            <a:ext cx="1874519" cy="868680"/>
          </a:xfrm>
          <a:prstGeom prst="rect">
            <a:avLst/>
          </a:prstGeom>
          <a:noFill/>
        </p:spPr>
        <p:txBody>
          <a:bodyPr wrap="square" lIns="36576" tIns="36576" rIns="36576" bIns="36576" anchor="t">
            <a:spAutoFit/>
          </a:bodyPr>
          <a:lstStyle/>
          <a:p>
            <a:pPr algn="ctr">
              <a:defRPr sz="1050" b="0">
                <a:solidFill>
                  <a:srgbClr val="463B31"/>
                </a:solidFill>
                <a:latin typeface="Aptos"/>
              </a:defRPr>
            </a:pPr>
            <a:r>
              <a:t>Find matching symptoms,</a:t>
            </a:r>
            <a:br/>
            <a:r>
              <a:t>management and prevention</a:t>
            </a:r>
          </a:p>
        </p:txBody>
      </p:sp>
      <p:sp>
        <p:nvSpPr>
          <p:cNvPr id="27" name="Chevron 26">
            <a:extLst>
              <a:ext uri="{FF2B5EF4-FFF2-40B4-BE49-F238E27FC236}">
                <a16:creationId xmlns:a16="http://schemas.microsoft.com/office/drawing/2014/main" id="{206F17F7-CB6C-D445-FD1B-9B8A7DC0F589}"/>
              </a:ext>
            </a:extLst>
          </p:cNvPr>
          <p:cNvSpPr/>
          <p:nvPr/>
        </p:nvSpPr>
        <p:spPr>
          <a:xfrm>
            <a:off x="9560052" y="3483863"/>
            <a:ext cx="201168" cy="411480"/>
          </a:xfrm>
          <a:prstGeom prst="chevron">
            <a:avLst/>
          </a:prstGeom>
          <a:solidFill>
            <a:srgbClr val="82A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a:extLst>
              <a:ext uri="{FF2B5EF4-FFF2-40B4-BE49-F238E27FC236}">
                <a16:creationId xmlns:a16="http://schemas.microsoft.com/office/drawing/2014/main" id="{C34F71FB-D703-1AB1-8CDE-8E7099A4D7E9}"/>
              </a:ext>
            </a:extLst>
          </p:cNvPr>
          <p:cNvSpPr/>
          <p:nvPr/>
        </p:nvSpPr>
        <p:spPr>
          <a:xfrm>
            <a:off x="9784080" y="2788920"/>
            <a:ext cx="2057400" cy="1828800"/>
          </a:xfrm>
          <a:prstGeom prst="roundRect">
            <a:avLst/>
          </a:prstGeom>
          <a:solidFill>
            <a:srgbClr val="FFFDF7"/>
          </a:solidFill>
          <a:ln w="22860">
            <a:solidFill>
              <a:srgbClr val="2C6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78978D06-F6E0-6089-4B61-A686C943375E}"/>
              </a:ext>
            </a:extLst>
          </p:cNvPr>
          <p:cNvSpPr/>
          <p:nvPr/>
        </p:nvSpPr>
        <p:spPr>
          <a:xfrm>
            <a:off x="10611612" y="2578608"/>
            <a:ext cx="402336" cy="402336"/>
          </a:xfrm>
          <a:prstGeom prst="ellipse">
            <a:avLst/>
          </a:prstGeom>
          <a:solidFill>
            <a:srgbClr val="2C6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DF7"/>
                </a:solidFill>
                <a:latin typeface="Aptos"/>
              </a:defRPr>
            </a:pPr>
            <a:r>
              <a:t>5</a:t>
            </a:r>
          </a:p>
        </p:txBody>
      </p:sp>
      <p:sp>
        <p:nvSpPr>
          <p:cNvPr id="30" name="TextBox 29">
            <a:extLst>
              <a:ext uri="{FF2B5EF4-FFF2-40B4-BE49-F238E27FC236}">
                <a16:creationId xmlns:a16="http://schemas.microsoft.com/office/drawing/2014/main" id="{CC913D4E-74EC-B02A-FFFE-A2D5ED20F4C9}"/>
              </a:ext>
            </a:extLst>
          </p:cNvPr>
          <p:cNvSpPr txBox="1"/>
          <p:nvPr/>
        </p:nvSpPr>
        <p:spPr>
          <a:xfrm>
            <a:off x="9857232" y="3008376"/>
            <a:ext cx="1911095" cy="640080"/>
          </a:xfrm>
          <a:prstGeom prst="rect">
            <a:avLst/>
          </a:prstGeom>
          <a:noFill/>
        </p:spPr>
        <p:txBody>
          <a:bodyPr wrap="square" lIns="36576" tIns="36576" rIns="36576" bIns="36576" anchor="ctr">
            <a:spAutoFit/>
          </a:bodyPr>
          <a:lstStyle/>
          <a:p>
            <a:pPr algn="ctr">
              <a:defRPr sz="1500" b="1">
                <a:solidFill>
                  <a:srgbClr val="5B3B27"/>
                </a:solidFill>
                <a:latin typeface="Aptos"/>
              </a:defRPr>
            </a:pPr>
            <a:r>
              <a:t>Display</a:t>
            </a:r>
            <a:br/>
            <a:r>
              <a:t>result</a:t>
            </a:r>
          </a:p>
        </p:txBody>
      </p:sp>
      <p:sp>
        <p:nvSpPr>
          <p:cNvPr id="31" name="TextBox 30">
            <a:extLst>
              <a:ext uri="{FF2B5EF4-FFF2-40B4-BE49-F238E27FC236}">
                <a16:creationId xmlns:a16="http://schemas.microsoft.com/office/drawing/2014/main" id="{3728E301-F0D1-FC4E-0CFF-944038D2AAAA}"/>
              </a:ext>
            </a:extLst>
          </p:cNvPr>
          <p:cNvSpPr txBox="1"/>
          <p:nvPr/>
        </p:nvSpPr>
        <p:spPr>
          <a:xfrm>
            <a:off x="9875520" y="3675887"/>
            <a:ext cx="1874519" cy="868680"/>
          </a:xfrm>
          <a:prstGeom prst="rect">
            <a:avLst/>
          </a:prstGeom>
          <a:noFill/>
        </p:spPr>
        <p:txBody>
          <a:bodyPr wrap="square" lIns="36576" tIns="36576" rIns="36576" bIns="36576" anchor="t">
            <a:spAutoFit/>
          </a:bodyPr>
          <a:lstStyle/>
          <a:p>
            <a:pPr algn="ctr">
              <a:defRPr sz="1050" b="0">
                <a:solidFill>
                  <a:srgbClr val="463B31"/>
                </a:solidFill>
                <a:latin typeface="Aptos"/>
              </a:defRPr>
            </a:pPr>
            <a:r>
              <a:t>Show prediction, confidence</a:t>
            </a:r>
            <a:br/>
            <a:r>
              <a:t>and top candidate classes</a:t>
            </a:r>
          </a:p>
        </p:txBody>
      </p:sp>
      <p:sp>
        <p:nvSpPr>
          <p:cNvPr id="32" name="Rounded Rectangle 31">
            <a:extLst>
              <a:ext uri="{FF2B5EF4-FFF2-40B4-BE49-F238E27FC236}">
                <a16:creationId xmlns:a16="http://schemas.microsoft.com/office/drawing/2014/main" id="{F4DD6C9C-80A7-A013-F2A3-40E32EB6121D}"/>
              </a:ext>
            </a:extLst>
          </p:cNvPr>
          <p:cNvSpPr/>
          <p:nvPr/>
        </p:nvSpPr>
        <p:spPr>
          <a:xfrm>
            <a:off x="1051560" y="5257800"/>
            <a:ext cx="10058400" cy="658368"/>
          </a:xfrm>
          <a:prstGeom prst="roundRect">
            <a:avLst/>
          </a:prstGeom>
          <a:solidFill>
            <a:srgbClr val="EF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B63547C7-B2F7-EE0B-AB77-30875D28EB86}"/>
              </a:ext>
            </a:extLst>
          </p:cNvPr>
          <p:cNvSpPr txBox="1"/>
          <p:nvPr/>
        </p:nvSpPr>
        <p:spPr>
          <a:xfrm>
            <a:off x="1234440" y="5431536"/>
            <a:ext cx="9692640" cy="274320"/>
          </a:xfrm>
          <a:prstGeom prst="rect">
            <a:avLst/>
          </a:prstGeom>
          <a:noFill/>
        </p:spPr>
        <p:txBody>
          <a:bodyPr wrap="square" lIns="36576" tIns="36576" rIns="36576" bIns="36576" anchor="ctr">
            <a:spAutoFit/>
          </a:bodyPr>
          <a:lstStyle/>
          <a:p>
            <a:pPr algn="ctr">
              <a:defRPr sz="1500" b="1">
                <a:solidFill>
                  <a:srgbClr val="2C6241"/>
                </a:solidFill>
                <a:latin typeface="Aptos"/>
              </a:defRPr>
            </a:pPr>
            <a:r>
              <a:t>UPLOAD  →  PREPROCESS  →  PREDICT  →  RETRIEVE GUIDANCE  →  DISPLAY RESULT</a:t>
            </a:r>
          </a:p>
        </p:txBody>
      </p:sp>
      <p:sp>
        <p:nvSpPr>
          <p:cNvPr id="34" name="TextBox 33">
            <a:extLst>
              <a:ext uri="{FF2B5EF4-FFF2-40B4-BE49-F238E27FC236}">
                <a16:creationId xmlns:a16="http://schemas.microsoft.com/office/drawing/2014/main" id="{E83587A0-6C2A-0F71-EC81-99424F4B3703}"/>
              </a:ext>
            </a:extLst>
          </p:cNvPr>
          <p:cNvSpPr txBox="1"/>
          <p:nvPr/>
        </p:nvSpPr>
        <p:spPr>
          <a:xfrm>
            <a:off x="914400" y="6080760"/>
            <a:ext cx="10332720" cy="274320"/>
          </a:xfrm>
          <a:prstGeom prst="rect">
            <a:avLst/>
          </a:prstGeom>
          <a:noFill/>
        </p:spPr>
        <p:txBody>
          <a:bodyPr wrap="square" lIns="36576" tIns="36576" rIns="36576" bIns="36576" anchor="t">
            <a:spAutoFit/>
          </a:bodyPr>
          <a:lstStyle/>
          <a:p>
            <a:pPr algn="ctr">
              <a:defRPr sz="1200" b="0">
                <a:solidFill>
                  <a:srgbClr val="786958"/>
                </a:solidFill>
                <a:latin typeface="Aptos"/>
              </a:defRPr>
            </a:pPr>
            <a:r>
              <a:t>The model provides a prediction to support assessment; it is not a guaranteed diagnosis.</a:t>
            </a:r>
          </a:p>
        </p:txBody>
      </p:sp>
    </p:spTree>
    <p:extLst>
      <p:ext uri="{BB962C8B-B14F-4D97-AF65-F5344CB8AC3E}">
        <p14:creationId xmlns:p14="http://schemas.microsoft.com/office/powerpoint/2010/main" val="3372210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30" name="Picture 29"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31" name="Picture 30" descr="leaf_08.png"/>
          <p:cNvPicPr>
            <a:picLocks noChangeAspect="1"/>
          </p:cNvPicPr>
          <p:nvPr/>
        </p:nvPicPr>
        <p:blipFill>
          <a:blip r:embed="rId3"/>
          <a:stretch>
            <a:fillRect/>
          </a:stretch>
        </p:blipFill>
        <p:spPr>
          <a:xfrm>
            <a:off x="10927080" y="530352"/>
            <a:ext cx="658368" cy="475488"/>
          </a:xfrm>
          <a:prstGeom prst="rect">
            <a:avLst/>
          </a:prstGeom>
        </p:spPr>
      </p:pic>
      <p:sp>
        <p:nvSpPr>
          <p:cNvPr id="32"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33"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Transfer Learning and Model Training</a:t>
            </a:r>
          </a:p>
        </p:txBody>
      </p:sp>
      <p:sp>
        <p:nvSpPr>
          <p:cNvPr id="34"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35"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dirty="0">
                <a:solidFill>
                  <a:srgbClr val="4D3727"/>
                </a:solidFill>
                <a:latin typeface="Calibri"/>
              </a:rPr>
              <a:t>0</a:t>
            </a:r>
            <a:r>
              <a:rPr lang="en-US" sz="1200" b="1" i="0" dirty="0">
                <a:solidFill>
                  <a:srgbClr val="4D3727"/>
                </a:solidFill>
                <a:latin typeface="Calibri"/>
              </a:rPr>
              <a:t>9</a:t>
            </a:r>
            <a:endParaRPr sz="1200" b="1" i="0" dirty="0">
              <a:solidFill>
                <a:srgbClr val="4D3727"/>
              </a:solidFill>
              <a:latin typeface="Calibri"/>
            </a:endParaRPr>
          </a:p>
        </p:txBody>
      </p:sp>
      <p:sp>
        <p:nvSpPr>
          <p:cNvPr id="36" name="Rounded Rectangle 35"/>
          <p:cNvSpPr/>
          <p:nvPr/>
        </p:nvSpPr>
        <p:spPr>
          <a:xfrm>
            <a:off x="640080" y="1280160"/>
            <a:ext cx="2514600" cy="30175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40080" y="1389888"/>
            <a:ext cx="64008" cy="279806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41247" y="1417320"/>
            <a:ext cx="548640" cy="548640"/>
          </a:xfrm>
          <a:prstGeom prst="ellipse">
            <a:avLst/>
          </a:prstGeom>
          <a:solidFill>
            <a:srgbClr val="E8EFE2"/>
          </a:solidFill>
          <a:ln w="19050">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7" y="1417320"/>
            <a:ext cx="548640" cy="548640"/>
          </a:xfrm>
          <a:prstGeom prst="rect">
            <a:avLst/>
          </a:prstGeom>
          <a:noFill/>
        </p:spPr>
        <p:txBody>
          <a:bodyPr wrap="square" lIns="73152" tIns="27432" rIns="73152" bIns="27432" anchor="ctr">
            <a:noAutofit/>
          </a:bodyPr>
          <a:lstStyle/>
          <a:p>
            <a:pPr algn="ctr">
              <a:lnSpc>
                <a:spcPct val="112000"/>
              </a:lnSpc>
              <a:spcAft>
                <a:spcPts val="600"/>
              </a:spcAft>
            </a:pPr>
            <a:r>
              <a:rPr sz="2000" b="1" i="0">
                <a:solidFill>
                  <a:srgbClr val="4D3727"/>
                </a:solidFill>
                <a:latin typeface="Cambria"/>
              </a:rPr>
              <a:t>1</a:t>
            </a:r>
          </a:p>
        </p:txBody>
      </p:sp>
      <p:sp>
        <p:nvSpPr>
          <p:cNvPr id="40" name="TextBox 39"/>
          <p:cNvSpPr txBox="1"/>
          <p:nvPr/>
        </p:nvSpPr>
        <p:spPr>
          <a:xfrm>
            <a:off x="822959" y="2057400"/>
            <a:ext cx="2194560" cy="73152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Start with pretrained weights</a:t>
            </a:r>
          </a:p>
        </p:txBody>
      </p:sp>
      <p:sp>
        <p:nvSpPr>
          <p:cNvPr id="41" name="TextBox 40"/>
          <p:cNvSpPr txBox="1"/>
          <p:nvPr/>
        </p:nvSpPr>
        <p:spPr>
          <a:xfrm>
            <a:off x="822959" y="2834640"/>
            <a:ext cx="2194560" cy="1417320"/>
          </a:xfrm>
          <a:prstGeom prst="rect">
            <a:avLst/>
          </a:prstGeom>
          <a:noFill/>
        </p:spPr>
        <p:txBody>
          <a:bodyPr wrap="square" lIns="73152" tIns="27432" rIns="73152" bIns="27432" anchor="t">
            <a:noAutofit/>
          </a:bodyPr>
          <a:lstStyle/>
          <a:p>
            <a:pPr algn="l">
              <a:lnSpc>
                <a:spcPct val="112000"/>
              </a:lnSpc>
              <a:spcAft>
                <a:spcPts val="600"/>
              </a:spcAft>
            </a:pPr>
            <a:r>
              <a:rPr sz="1550" b="0" i="0">
                <a:solidFill>
                  <a:srgbClr val="4D3727"/>
                </a:solidFill>
                <a:latin typeface="Calibri"/>
              </a:rPr>
              <a:t>Models began with ImageNet-pretrained weights, per the project report.</a:t>
            </a:r>
          </a:p>
        </p:txBody>
      </p:sp>
      <p:sp>
        <p:nvSpPr>
          <p:cNvPr id="42" name="Right Arrow 41"/>
          <p:cNvSpPr/>
          <p:nvPr/>
        </p:nvSpPr>
        <p:spPr>
          <a:xfrm>
            <a:off x="3182111" y="2651760"/>
            <a:ext cx="237744" cy="329184"/>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3447287" y="1280160"/>
            <a:ext cx="2514600" cy="30175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447287" y="1389888"/>
            <a:ext cx="64008" cy="279806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3648456" y="1417320"/>
            <a:ext cx="548640" cy="548640"/>
          </a:xfrm>
          <a:prstGeom prst="ellipse">
            <a:avLst/>
          </a:prstGeom>
          <a:solidFill>
            <a:srgbClr val="E8EFE2"/>
          </a:solidFill>
          <a:ln w="19050">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48456" y="1417320"/>
            <a:ext cx="548640" cy="548640"/>
          </a:xfrm>
          <a:prstGeom prst="rect">
            <a:avLst/>
          </a:prstGeom>
          <a:noFill/>
        </p:spPr>
        <p:txBody>
          <a:bodyPr wrap="square" lIns="73152" tIns="27432" rIns="73152" bIns="27432" anchor="ctr">
            <a:noAutofit/>
          </a:bodyPr>
          <a:lstStyle/>
          <a:p>
            <a:pPr algn="ctr">
              <a:lnSpc>
                <a:spcPct val="112000"/>
              </a:lnSpc>
              <a:spcAft>
                <a:spcPts val="600"/>
              </a:spcAft>
            </a:pPr>
            <a:r>
              <a:rPr sz="2000" b="1" i="0">
                <a:solidFill>
                  <a:srgbClr val="4D3727"/>
                </a:solidFill>
                <a:latin typeface="Cambria"/>
              </a:rPr>
              <a:t>2</a:t>
            </a:r>
          </a:p>
        </p:txBody>
      </p:sp>
      <p:sp>
        <p:nvSpPr>
          <p:cNvPr id="47" name="TextBox 46"/>
          <p:cNvSpPr txBox="1"/>
          <p:nvPr/>
        </p:nvSpPr>
        <p:spPr>
          <a:xfrm>
            <a:off x="3630168" y="2057400"/>
            <a:ext cx="2194560" cy="73152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Adapt the output</a:t>
            </a:r>
          </a:p>
        </p:txBody>
      </p:sp>
      <p:sp>
        <p:nvSpPr>
          <p:cNvPr id="48" name="TextBox 47"/>
          <p:cNvSpPr txBox="1"/>
          <p:nvPr/>
        </p:nvSpPr>
        <p:spPr>
          <a:xfrm>
            <a:off x="3630168" y="2834640"/>
            <a:ext cx="2194560" cy="1417320"/>
          </a:xfrm>
          <a:prstGeom prst="rect">
            <a:avLst/>
          </a:prstGeom>
          <a:noFill/>
        </p:spPr>
        <p:txBody>
          <a:bodyPr wrap="square" lIns="73152" tIns="27432" rIns="73152" bIns="27432" anchor="t">
            <a:noAutofit/>
          </a:bodyPr>
          <a:lstStyle/>
          <a:p>
            <a:pPr algn="l">
              <a:lnSpc>
                <a:spcPct val="112000"/>
              </a:lnSpc>
              <a:spcAft>
                <a:spcPts val="600"/>
              </a:spcAft>
            </a:pPr>
            <a:r>
              <a:rPr sz="1550" b="0" i="0">
                <a:solidFill>
                  <a:srgbClr val="4D3727"/>
                </a:solidFill>
                <a:latin typeface="Calibri"/>
              </a:rPr>
              <a:t>The classifier output was set up for the 38 plant classes.</a:t>
            </a:r>
          </a:p>
        </p:txBody>
      </p:sp>
      <p:sp>
        <p:nvSpPr>
          <p:cNvPr id="49" name="Right Arrow 48"/>
          <p:cNvSpPr/>
          <p:nvPr/>
        </p:nvSpPr>
        <p:spPr>
          <a:xfrm>
            <a:off x="5989319" y="2651760"/>
            <a:ext cx="237744" cy="329184"/>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254496" y="1280160"/>
            <a:ext cx="2514600" cy="30175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254496" y="1389888"/>
            <a:ext cx="64008" cy="279806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455664" y="1417320"/>
            <a:ext cx="548640" cy="548640"/>
          </a:xfrm>
          <a:prstGeom prst="ellipse">
            <a:avLst/>
          </a:prstGeom>
          <a:solidFill>
            <a:srgbClr val="E8EFE2"/>
          </a:solidFill>
          <a:ln w="19050">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55664" y="1417320"/>
            <a:ext cx="548640" cy="548640"/>
          </a:xfrm>
          <a:prstGeom prst="rect">
            <a:avLst/>
          </a:prstGeom>
          <a:noFill/>
        </p:spPr>
        <p:txBody>
          <a:bodyPr wrap="square" lIns="73152" tIns="27432" rIns="73152" bIns="27432" anchor="ctr">
            <a:noAutofit/>
          </a:bodyPr>
          <a:lstStyle/>
          <a:p>
            <a:pPr algn="ctr">
              <a:lnSpc>
                <a:spcPct val="112000"/>
              </a:lnSpc>
              <a:spcAft>
                <a:spcPts val="600"/>
              </a:spcAft>
            </a:pPr>
            <a:r>
              <a:rPr sz="2000" b="1" i="0">
                <a:solidFill>
                  <a:srgbClr val="4D3727"/>
                </a:solidFill>
                <a:latin typeface="Cambria"/>
              </a:rPr>
              <a:t>3</a:t>
            </a:r>
          </a:p>
        </p:txBody>
      </p:sp>
      <p:sp>
        <p:nvSpPr>
          <p:cNvPr id="54" name="TextBox 53"/>
          <p:cNvSpPr txBox="1"/>
          <p:nvPr/>
        </p:nvSpPr>
        <p:spPr>
          <a:xfrm>
            <a:off x="6437376" y="2057400"/>
            <a:ext cx="2194560" cy="73152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Train on leaf images</a:t>
            </a:r>
          </a:p>
        </p:txBody>
      </p:sp>
      <p:sp>
        <p:nvSpPr>
          <p:cNvPr id="55" name="TextBox 54"/>
          <p:cNvSpPr txBox="1"/>
          <p:nvPr/>
        </p:nvSpPr>
        <p:spPr>
          <a:xfrm>
            <a:off x="6437376" y="2834640"/>
            <a:ext cx="2194560" cy="1417320"/>
          </a:xfrm>
          <a:prstGeom prst="rect">
            <a:avLst/>
          </a:prstGeom>
          <a:noFill/>
        </p:spPr>
        <p:txBody>
          <a:bodyPr wrap="square" lIns="73152" tIns="27432" rIns="73152" bIns="27432" anchor="t">
            <a:noAutofit/>
          </a:bodyPr>
          <a:lstStyle/>
          <a:p>
            <a:pPr algn="l">
              <a:lnSpc>
                <a:spcPct val="112000"/>
              </a:lnSpc>
              <a:spcAft>
                <a:spcPts val="600"/>
              </a:spcAft>
            </a:pPr>
            <a:r>
              <a:rPr sz="1550" b="0" i="0">
                <a:solidFill>
                  <a:srgbClr val="4D3727"/>
                </a:solidFill>
                <a:latin typeface="Calibri"/>
              </a:rPr>
              <a:t>PlantVillage images teach plant-specific patterns.</a:t>
            </a:r>
          </a:p>
        </p:txBody>
      </p:sp>
      <p:sp>
        <p:nvSpPr>
          <p:cNvPr id="56" name="Right Arrow 55"/>
          <p:cNvSpPr/>
          <p:nvPr/>
        </p:nvSpPr>
        <p:spPr>
          <a:xfrm>
            <a:off x="8796528" y="2651760"/>
            <a:ext cx="237744" cy="329184"/>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9061703" y="1280160"/>
            <a:ext cx="2514600" cy="301752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061703" y="1389888"/>
            <a:ext cx="64008" cy="279806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9262872" y="1417320"/>
            <a:ext cx="548640" cy="548640"/>
          </a:xfrm>
          <a:prstGeom prst="ellipse">
            <a:avLst/>
          </a:prstGeom>
          <a:solidFill>
            <a:srgbClr val="E8EFE2"/>
          </a:solidFill>
          <a:ln w="19050">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262872" y="1417320"/>
            <a:ext cx="548640" cy="548640"/>
          </a:xfrm>
          <a:prstGeom prst="rect">
            <a:avLst/>
          </a:prstGeom>
          <a:noFill/>
        </p:spPr>
        <p:txBody>
          <a:bodyPr wrap="square" lIns="73152" tIns="27432" rIns="73152" bIns="27432" anchor="ctr">
            <a:noAutofit/>
          </a:bodyPr>
          <a:lstStyle/>
          <a:p>
            <a:pPr algn="ctr">
              <a:lnSpc>
                <a:spcPct val="112000"/>
              </a:lnSpc>
              <a:spcAft>
                <a:spcPts val="600"/>
              </a:spcAft>
            </a:pPr>
            <a:r>
              <a:rPr sz="2000" b="1" i="0">
                <a:solidFill>
                  <a:srgbClr val="4D3727"/>
                </a:solidFill>
                <a:latin typeface="Cambria"/>
              </a:rPr>
              <a:t>4</a:t>
            </a:r>
          </a:p>
        </p:txBody>
      </p:sp>
      <p:sp>
        <p:nvSpPr>
          <p:cNvPr id="61" name="TextBox 60"/>
          <p:cNvSpPr txBox="1"/>
          <p:nvPr/>
        </p:nvSpPr>
        <p:spPr>
          <a:xfrm>
            <a:off x="9244583" y="2057400"/>
            <a:ext cx="2194560" cy="73152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Evaluate</a:t>
            </a:r>
          </a:p>
        </p:txBody>
      </p:sp>
      <p:sp>
        <p:nvSpPr>
          <p:cNvPr id="62" name="TextBox 61"/>
          <p:cNvSpPr txBox="1"/>
          <p:nvPr/>
        </p:nvSpPr>
        <p:spPr>
          <a:xfrm>
            <a:off x="9244583" y="2834640"/>
            <a:ext cx="2194560" cy="1417320"/>
          </a:xfrm>
          <a:prstGeom prst="rect">
            <a:avLst/>
          </a:prstGeom>
          <a:noFill/>
        </p:spPr>
        <p:txBody>
          <a:bodyPr wrap="square" lIns="73152" tIns="27432" rIns="73152" bIns="27432" anchor="t">
            <a:noAutofit/>
          </a:bodyPr>
          <a:lstStyle/>
          <a:p>
            <a:pPr algn="l">
              <a:lnSpc>
                <a:spcPct val="112000"/>
              </a:lnSpc>
              <a:spcAft>
                <a:spcPts val="600"/>
              </a:spcAft>
            </a:pPr>
            <a:r>
              <a:rPr sz="1550" b="0" i="0">
                <a:solidFill>
                  <a:srgbClr val="4D3727"/>
                </a:solidFill>
                <a:latin typeface="Calibri"/>
              </a:rPr>
              <a:t>Held-out validation and test images compare the models.</a:t>
            </a:r>
          </a:p>
        </p:txBody>
      </p:sp>
      <p:sp>
        <p:nvSpPr>
          <p:cNvPr id="63" name="Rounded Rectangle 62"/>
          <p:cNvSpPr/>
          <p:nvPr/>
        </p:nvSpPr>
        <p:spPr>
          <a:xfrm>
            <a:off x="640080" y="4526280"/>
            <a:ext cx="10927080" cy="1097280"/>
          </a:xfrm>
          <a:prstGeom prst="roundRect">
            <a:avLst>
              <a:gd name="adj" fmla="val 12000"/>
            </a:avLst>
          </a:prstGeom>
          <a:solidFill>
            <a:srgbClr val="E8EFE2"/>
          </a:solidFill>
          <a:ln w="1587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68680" y="4572000"/>
            <a:ext cx="10515600" cy="1005840"/>
          </a:xfrm>
          <a:prstGeom prst="rect">
            <a:avLst/>
          </a:prstGeom>
          <a:noFill/>
        </p:spPr>
        <p:txBody>
          <a:bodyPr wrap="square" lIns="73152" tIns="27432" rIns="73152" bIns="27432" anchor="ctr">
            <a:noAutofit/>
          </a:bodyPr>
          <a:lstStyle/>
          <a:p>
            <a:pPr algn="l">
              <a:lnSpc>
                <a:spcPct val="112000"/>
              </a:lnSpc>
              <a:spcAft>
                <a:spcPts val="600"/>
              </a:spcAft>
            </a:pPr>
            <a:r>
              <a:rPr sz="1800" b="1" i="0">
                <a:solidFill>
                  <a:srgbClr val="4D3727"/>
                </a:solidFill>
                <a:latin typeface="Calibri"/>
              </a:rPr>
              <a:t>A pre-trained model has already learned general visual features. Transfer learning adapts it to our target labels instead of starting from random weights.</a:t>
            </a:r>
          </a:p>
        </p:txBody>
      </p:sp>
      <p:sp>
        <p:nvSpPr>
          <p:cNvPr id="65" name="TextBox 64"/>
          <p:cNvSpPr txBox="1"/>
          <p:nvPr/>
        </p:nvSpPr>
        <p:spPr>
          <a:xfrm>
            <a:off x="640080" y="5760720"/>
            <a:ext cx="9509760" cy="640080"/>
          </a:xfrm>
          <a:prstGeom prst="rect">
            <a:avLst/>
          </a:prstGeom>
          <a:noFill/>
        </p:spPr>
        <p:txBody>
          <a:bodyPr wrap="square" lIns="73152" tIns="27432" rIns="73152" bIns="27432" anchor="ctr">
            <a:noAutofit/>
          </a:bodyPr>
          <a:lstStyle/>
          <a:p>
            <a:pPr algn="l">
              <a:lnSpc>
                <a:spcPct val="112000"/>
              </a:lnSpc>
              <a:spcAft>
                <a:spcPts val="600"/>
              </a:spcAft>
            </a:pPr>
            <a:r>
              <a:rPr sz="1400" b="0" i="1">
                <a:solidFill>
                  <a:srgbClr val="4D3727"/>
                </a:solidFill>
                <a:latin typeface="Calibri"/>
              </a:rPr>
              <a:t>Training used Google Colab. Exact frozen/unfrozen layers are not established in the supplied materials and should be confirmed from the training notebook.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2" name="Picture 1" descr="Botanical wallpaper background"/>
          <p:cNvPicPr>
            <a:picLocks noChangeAspect="1"/>
          </p:cNvPicPr>
          <p:nvPr/>
        </p:nvPicPr>
        <p:blipFill>
          <a:blip r:embed="rId2"/>
          <a:stretch>
            <a:fillRect/>
          </a:stretch>
        </p:blipFill>
        <p:spPr>
          <a:xfrm>
            <a:off x="0" y="0"/>
            <a:ext cx="12191695" cy="6858000"/>
          </a:xfrm>
          <a:prstGeom prst="rect">
            <a:avLst/>
          </a:prstGeom>
        </p:spPr>
      </p:pic>
      <p:pic>
        <p:nvPicPr>
          <p:cNvPr id="3" name="Picture 2" descr="Leaf illustration"/>
          <p:cNvPicPr>
            <a:picLocks noChangeAspect="1"/>
          </p:cNvPicPr>
          <p:nvPr/>
        </p:nvPicPr>
        <p:blipFill>
          <a:blip r:embed="rId3"/>
          <a:stretch>
            <a:fillRect/>
          </a:stretch>
        </p:blipFill>
        <p:spPr>
          <a:xfrm>
            <a:off x="10927080" y="530352"/>
            <a:ext cx="658368" cy="475488"/>
          </a:xfrm>
          <a:prstGeom prst="rect">
            <a:avLst/>
          </a:prstGeom>
        </p:spPr>
      </p:pic>
      <p:sp>
        <p:nvSpPr>
          <p:cNvPr id="4"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REPORTED ACCURACY</a:t>
            </a:r>
          </a:p>
        </p:txBody>
      </p:sp>
      <p:sp>
        <p:nvSpPr>
          <p:cNvPr id="5"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Model Comparison and Results</a:t>
            </a:r>
          </a:p>
        </p:txBody>
      </p:sp>
      <p:sp>
        <p:nvSpPr>
          <p:cNvPr id="6"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7"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lang="en-US" sz="1200" b="1" i="0" dirty="0">
                <a:solidFill>
                  <a:srgbClr val="4D3727"/>
                </a:solidFill>
                <a:latin typeface="Calibri"/>
              </a:rPr>
              <a:t>1</a:t>
            </a:r>
            <a:r>
              <a:rPr sz="1200" b="1" i="0" dirty="0">
                <a:solidFill>
                  <a:srgbClr val="4D3727"/>
                </a:solidFill>
                <a:latin typeface="Calibri"/>
              </a:rPr>
              <a:t>0</a:t>
            </a:r>
          </a:p>
        </p:txBody>
      </p:sp>
      <p:graphicFrame>
        <p:nvGraphicFramePr>
          <p:cNvPr id="8" name="Chart 7" descr="Bar chart: MobileNetV2 97 percent, DenseNet121 94 percent, EfficientNetB0 85 percent"/>
          <p:cNvGraphicFramePr>
            <a:graphicFrameLocks noGrp="1"/>
          </p:cNvGraphicFramePr>
          <p:nvPr/>
        </p:nvGraphicFramePr>
        <p:xfrm>
          <a:off x="1188720" y="1371600"/>
          <a:ext cx="9784080" cy="47548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38" name="Picture 37"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39" name="Picture 38" descr="leaf_10.png"/>
          <p:cNvPicPr>
            <a:picLocks noChangeAspect="1"/>
          </p:cNvPicPr>
          <p:nvPr/>
        </p:nvPicPr>
        <p:blipFill>
          <a:blip r:embed="rId3"/>
          <a:stretch>
            <a:fillRect/>
          </a:stretch>
        </p:blipFill>
        <p:spPr>
          <a:xfrm>
            <a:off x="10927080" y="530352"/>
            <a:ext cx="658368" cy="475488"/>
          </a:xfrm>
          <a:prstGeom prst="rect">
            <a:avLst/>
          </a:prstGeom>
        </p:spPr>
      </p:pic>
      <p:sp>
        <p:nvSpPr>
          <p:cNvPr id="40"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41"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System Architecture</a:t>
            </a:r>
          </a:p>
        </p:txBody>
      </p:sp>
      <p:sp>
        <p:nvSpPr>
          <p:cNvPr id="42"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43"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dirty="0">
                <a:solidFill>
                  <a:srgbClr val="4D3727"/>
                </a:solidFill>
                <a:latin typeface="Calibri"/>
              </a:rPr>
              <a:t>1</a:t>
            </a:r>
            <a:r>
              <a:rPr lang="en-US" sz="1200" b="1" i="0" dirty="0">
                <a:solidFill>
                  <a:srgbClr val="4D3727"/>
                </a:solidFill>
                <a:latin typeface="Calibri"/>
              </a:rPr>
              <a:t>1</a:t>
            </a:r>
            <a:endParaRPr sz="1200" b="1" i="0" dirty="0">
              <a:solidFill>
                <a:srgbClr val="4D3727"/>
              </a:solidFill>
              <a:latin typeface="Calibri"/>
            </a:endParaRPr>
          </a:p>
        </p:txBody>
      </p:sp>
      <p:sp>
        <p:nvSpPr>
          <p:cNvPr id="44" name="Rounded Rectangle 43"/>
          <p:cNvSpPr/>
          <p:nvPr/>
        </p:nvSpPr>
        <p:spPr>
          <a:xfrm>
            <a:off x="594360" y="1325880"/>
            <a:ext cx="2011680" cy="2240280"/>
          </a:xfrm>
          <a:prstGeom prst="roundRect">
            <a:avLst>
              <a:gd name="adj" fmla="val 10000"/>
            </a:avLst>
          </a:prstGeom>
          <a:solidFill>
            <a:srgbClr val="FFFDF7"/>
          </a:solidFill>
          <a:ln w="2222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1417320"/>
            <a:ext cx="1828800" cy="777240"/>
          </a:xfrm>
          <a:prstGeom prst="rect">
            <a:avLst/>
          </a:prstGeom>
          <a:noFill/>
        </p:spPr>
        <p:txBody>
          <a:bodyPr wrap="square" lIns="73152" tIns="27432" rIns="73152" bIns="27432" anchor="ctr">
            <a:noAutofit/>
          </a:bodyPr>
          <a:lstStyle/>
          <a:p>
            <a:pPr algn="ctr">
              <a:lnSpc>
                <a:spcPct val="112000"/>
              </a:lnSpc>
              <a:spcAft>
                <a:spcPts val="600"/>
              </a:spcAft>
            </a:pPr>
            <a:r>
              <a:rPr sz="1800" b="1" i="0">
                <a:solidFill>
                  <a:srgbClr val="4D3727"/>
                </a:solidFill>
                <a:latin typeface="Cambria"/>
              </a:rPr>
              <a:t>React frontend</a:t>
            </a:r>
          </a:p>
        </p:txBody>
      </p:sp>
      <p:sp>
        <p:nvSpPr>
          <p:cNvPr id="46" name="TextBox 45"/>
          <p:cNvSpPr txBox="1"/>
          <p:nvPr/>
        </p:nvSpPr>
        <p:spPr>
          <a:xfrm>
            <a:off x="685800" y="2240280"/>
            <a:ext cx="1828800" cy="1280160"/>
          </a:xfrm>
          <a:prstGeom prst="rect">
            <a:avLst/>
          </a:prstGeom>
          <a:noFill/>
        </p:spPr>
        <p:txBody>
          <a:bodyPr wrap="square" lIns="73152" tIns="27432" rIns="73152" bIns="27432" anchor="t">
            <a:noAutofit/>
          </a:bodyPr>
          <a:lstStyle/>
          <a:p>
            <a:pPr algn="ctr">
              <a:lnSpc>
                <a:spcPct val="112000"/>
              </a:lnSpc>
              <a:spcAft>
                <a:spcPts val="600"/>
              </a:spcAft>
            </a:pPr>
            <a:r>
              <a:rPr sz="1500" b="0" i="0">
                <a:solidFill>
                  <a:srgbClr val="4D3727"/>
                </a:solidFill>
                <a:latin typeface="Calibri"/>
              </a:rPr>
              <a:t>Upload image and plant details</a:t>
            </a:r>
          </a:p>
        </p:txBody>
      </p:sp>
      <p:sp>
        <p:nvSpPr>
          <p:cNvPr id="47" name="Right Arrow 46"/>
          <p:cNvSpPr/>
          <p:nvPr/>
        </p:nvSpPr>
        <p:spPr>
          <a:xfrm>
            <a:off x="2624328" y="2286000"/>
            <a:ext cx="237744" cy="365760"/>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2880360" y="1325880"/>
            <a:ext cx="2011680" cy="2240280"/>
          </a:xfrm>
          <a:prstGeom prst="roundRect">
            <a:avLst>
              <a:gd name="adj" fmla="val 10000"/>
            </a:avLst>
          </a:prstGeom>
          <a:solidFill>
            <a:srgbClr val="FFFDF7"/>
          </a:solidFill>
          <a:ln w="2222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71800" y="1417320"/>
            <a:ext cx="1828800" cy="777240"/>
          </a:xfrm>
          <a:prstGeom prst="rect">
            <a:avLst/>
          </a:prstGeom>
          <a:noFill/>
        </p:spPr>
        <p:txBody>
          <a:bodyPr wrap="square" lIns="73152" tIns="27432" rIns="73152" bIns="27432" anchor="ctr">
            <a:noAutofit/>
          </a:bodyPr>
          <a:lstStyle/>
          <a:p>
            <a:pPr algn="ctr">
              <a:lnSpc>
                <a:spcPct val="112000"/>
              </a:lnSpc>
              <a:spcAft>
                <a:spcPts val="600"/>
              </a:spcAft>
            </a:pPr>
            <a:r>
              <a:rPr sz="1800" b="1" i="0">
                <a:solidFill>
                  <a:srgbClr val="4D3727"/>
                </a:solidFill>
                <a:latin typeface="Cambria"/>
              </a:rPr>
              <a:t>FastAPI / API</a:t>
            </a:r>
          </a:p>
        </p:txBody>
      </p:sp>
      <p:sp>
        <p:nvSpPr>
          <p:cNvPr id="50" name="TextBox 49"/>
          <p:cNvSpPr txBox="1"/>
          <p:nvPr/>
        </p:nvSpPr>
        <p:spPr>
          <a:xfrm>
            <a:off x="2971800" y="2240280"/>
            <a:ext cx="1828800" cy="1280160"/>
          </a:xfrm>
          <a:prstGeom prst="rect">
            <a:avLst/>
          </a:prstGeom>
          <a:noFill/>
        </p:spPr>
        <p:txBody>
          <a:bodyPr wrap="square" lIns="73152" tIns="27432" rIns="73152" bIns="27432" anchor="t">
            <a:noAutofit/>
          </a:bodyPr>
          <a:lstStyle/>
          <a:p>
            <a:pPr algn="ctr">
              <a:lnSpc>
                <a:spcPct val="112000"/>
              </a:lnSpc>
              <a:spcAft>
                <a:spcPts val="600"/>
              </a:spcAft>
            </a:pPr>
            <a:r>
              <a:rPr sz="1500" b="0" i="0">
                <a:solidFill>
                  <a:srgbClr val="4D3727"/>
                </a:solidFill>
                <a:latin typeface="Calibri"/>
              </a:rPr>
              <a:t>Receives and validates the request</a:t>
            </a:r>
          </a:p>
        </p:txBody>
      </p:sp>
      <p:sp>
        <p:nvSpPr>
          <p:cNvPr id="51" name="Right Arrow 50"/>
          <p:cNvSpPr/>
          <p:nvPr/>
        </p:nvSpPr>
        <p:spPr>
          <a:xfrm>
            <a:off x="4910328" y="2286000"/>
            <a:ext cx="237744" cy="365760"/>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5166360" y="1325880"/>
            <a:ext cx="2011680" cy="2240280"/>
          </a:xfrm>
          <a:prstGeom prst="roundRect">
            <a:avLst>
              <a:gd name="adj" fmla="val 10000"/>
            </a:avLst>
          </a:prstGeom>
          <a:solidFill>
            <a:srgbClr val="E8EFE2"/>
          </a:solidFill>
          <a:ln w="2222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257800" y="1417320"/>
            <a:ext cx="1828800" cy="777240"/>
          </a:xfrm>
          <a:prstGeom prst="rect">
            <a:avLst/>
          </a:prstGeom>
          <a:noFill/>
        </p:spPr>
        <p:txBody>
          <a:bodyPr wrap="square" lIns="73152" tIns="27432" rIns="73152" bIns="27432" anchor="ctr">
            <a:noAutofit/>
          </a:bodyPr>
          <a:lstStyle/>
          <a:p>
            <a:pPr algn="ctr">
              <a:lnSpc>
                <a:spcPct val="112000"/>
              </a:lnSpc>
              <a:spcAft>
                <a:spcPts val="600"/>
              </a:spcAft>
            </a:pPr>
            <a:r>
              <a:rPr sz="1800" b="1" i="0">
                <a:solidFill>
                  <a:srgbClr val="4D3727"/>
                </a:solidFill>
                <a:latin typeface="Cambria"/>
              </a:rPr>
              <a:t>Deep learning model</a:t>
            </a:r>
          </a:p>
        </p:txBody>
      </p:sp>
      <p:sp>
        <p:nvSpPr>
          <p:cNvPr id="54" name="TextBox 53"/>
          <p:cNvSpPr txBox="1"/>
          <p:nvPr/>
        </p:nvSpPr>
        <p:spPr>
          <a:xfrm>
            <a:off x="5257800" y="2240280"/>
            <a:ext cx="1828800" cy="1280160"/>
          </a:xfrm>
          <a:prstGeom prst="rect">
            <a:avLst/>
          </a:prstGeom>
          <a:noFill/>
        </p:spPr>
        <p:txBody>
          <a:bodyPr wrap="square" lIns="73152" tIns="27432" rIns="73152" bIns="27432" anchor="t">
            <a:noAutofit/>
          </a:bodyPr>
          <a:lstStyle/>
          <a:p>
            <a:pPr algn="ctr">
              <a:lnSpc>
                <a:spcPct val="112000"/>
              </a:lnSpc>
              <a:spcAft>
                <a:spcPts val="600"/>
              </a:spcAft>
            </a:pPr>
            <a:r>
              <a:rPr sz="1500" b="0" i="0">
                <a:solidFill>
                  <a:srgbClr val="4D3727"/>
                </a:solidFill>
                <a:latin typeface="Calibri"/>
              </a:rPr>
              <a:t>MobileNetV2 predicts a supported class</a:t>
            </a:r>
          </a:p>
        </p:txBody>
      </p:sp>
      <p:sp>
        <p:nvSpPr>
          <p:cNvPr id="55" name="Right Arrow 54"/>
          <p:cNvSpPr/>
          <p:nvPr/>
        </p:nvSpPr>
        <p:spPr>
          <a:xfrm>
            <a:off x="7196328" y="2286000"/>
            <a:ext cx="237744" cy="365760"/>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7452360" y="1325880"/>
            <a:ext cx="2011680" cy="2240280"/>
          </a:xfrm>
          <a:prstGeom prst="roundRect">
            <a:avLst>
              <a:gd name="adj" fmla="val 10000"/>
            </a:avLst>
          </a:prstGeom>
          <a:solidFill>
            <a:srgbClr val="FFFDF7"/>
          </a:solidFill>
          <a:ln w="2222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43800" y="1417320"/>
            <a:ext cx="1828800" cy="777240"/>
          </a:xfrm>
          <a:prstGeom prst="rect">
            <a:avLst/>
          </a:prstGeom>
          <a:noFill/>
        </p:spPr>
        <p:txBody>
          <a:bodyPr wrap="square" lIns="73152" tIns="27432" rIns="73152" bIns="27432" anchor="ctr">
            <a:noAutofit/>
          </a:bodyPr>
          <a:lstStyle/>
          <a:p>
            <a:pPr algn="ctr">
              <a:lnSpc>
                <a:spcPct val="112000"/>
              </a:lnSpc>
              <a:spcAft>
                <a:spcPts val="600"/>
              </a:spcAft>
            </a:pPr>
            <a:r>
              <a:rPr sz="1800" b="1" i="0">
                <a:solidFill>
                  <a:srgbClr val="4D3727"/>
                </a:solidFill>
                <a:latin typeface="Cambria"/>
              </a:rPr>
              <a:t>Guidance lookup</a:t>
            </a:r>
          </a:p>
        </p:txBody>
      </p:sp>
      <p:sp>
        <p:nvSpPr>
          <p:cNvPr id="58" name="TextBox 57"/>
          <p:cNvSpPr txBox="1"/>
          <p:nvPr/>
        </p:nvSpPr>
        <p:spPr>
          <a:xfrm>
            <a:off x="7543800" y="2240280"/>
            <a:ext cx="1828800" cy="1280160"/>
          </a:xfrm>
          <a:prstGeom prst="rect">
            <a:avLst/>
          </a:prstGeom>
          <a:noFill/>
        </p:spPr>
        <p:txBody>
          <a:bodyPr wrap="square" lIns="73152" tIns="27432" rIns="73152" bIns="27432" anchor="t">
            <a:noAutofit/>
          </a:bodyPr>
          <a:lstStyle/>
          <a:p>
            <a:pPr algn="ctr">
              <a:lnSpc>
                <a:spcPct val="112000"/>
              </a:lnSpc>
              <a:spcAft>
                <a:spcPts val="600"/>
              </a:spcAft>
            </a:pPr>
            <a:r>
              <a:rPr sz="1500" b="0" i="0">
                <a:solidFill>
                  <a:srgbClr val="4D3727"/>
                </a:solidFill>
                <a:latin typeface="Calibri"/>
              </a:rPr>
              <a:t>Retrieves the matching disease text</a:t>
            </a:r>
          </a:p>
        </p:txBody>
      </p:sp>
      <p:sp>
        <p:nvSpPr>
          <p:cNvPr id="59" name="Right Arrow 58"/>
          <p:cNvSpPr/>
          <p:nvPr/>
        </p:nvSpPr>
        <p:spPr>
          <a:xfrm>
            <a:off x="9482328" y="2286000"/>
            <a:ext cx="237744" cy="365760"/>
          </a:xfrm>
          <a:prstGeom prst="rightArrow">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9738360" y="1325880"/>
            <a:ext cx="2011680" cy="2240280"/>
          </a:xfrm>
          <a:prstGeom prst="roundRect">
            <a:avLst>
              <a:gd name="adj" fmla="val 10000"/>
            </a:avLst>
          </a:prstGeom>
          <a:solidFill>
            <a:srgbClr val="FFFDF7"/>
          </a:solidFill>
          <a:ln w="2222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829800" y="1417320"/>
            <a:ext cx="1828800" cy="777240"/>
          </a:xfrm>
          <a:prstGeom prst="rect">
            <a:avLst/>
          </a:prstGeom>
          <a:noFill/>
        </p:spPr>
        <p:txBody>
          <a:bodyPr wrap="square" lIns="73152" tIns="27432" rIns="73152" bIns="27432" anchor="ctr">
            <a:noAutofit/>
          </a:bodyPr>
          <a:lstStyle/>
          <a:p>
            <a:pPr algn="ctr">
              <a:lnSpc>
                <a:spcPct val="112000"/>
              </a:lnSpc>
              <a:spcAft>
                <a:spcPts val="600"/>
              </a:spcAft>
            </a:pPr>
            <a:r>
              <a:rPr sz="1800" b="1" i="0">
                <a:solidFill>
                  <a:srgbClr val="4D3727"/>
                </a:solidFill>
                <a:latin typeface="Cambria"/>
              </a:rPr>
              <a:t>Results displayed</a:t>
            </a:r>
          </a:p>
        </p:txBody>
      </p:sp>
      <p:sp>
        <p:nvSpPr>
          <p:cNvPr id="62" name="TextBox 61"/>
          <p:cNvSpPr txBox="1"/>
          <p:nvPr/>
        </p:nvSpPr>
        <p:spPr>
          <a:xfrm>
            <a:off x="9829800" y="2240280"/>
            <a:ext cx="1828800" cy="1280160"/>
          </a:xfrm>
          <a:prstGeom prst="rect">
            <a:avLst/>
          </a:prstGeom>
          <a:noFill/>
        </p:spPr>
        <p:txBody>
          <a:bodyPr wrap="square" lIns="73152" tIns="27432" rIns="73152" bIns="27432" anchor="t">
            <a:noAutofit/>
          </a:bodyPr>
          <a:lstStyle/>
          <a:p>
            <a:pPr algn="ctr">
              <a:lnSpc>
                <a:spcPct val="112000"/>
              </a:lnSpc>
              <a:spcAft>
                <a:spcPts val="600"/>
              </a:spcAft>
            </a:pPr>
            <a:r>
              <a:rPr sz="1500" b="0" i="0">
                <a:solidFill>
                  <a:srgbClr val="4D3727"/>
                </a:solidFill>
                <a:latin typeface="Calibri"/>
              </a:rPr>
              <a:t>Prediction and guidance shown in the frontend</a:t>
            </a:r>
          </a:p>
        </p:txBody>
      </p:sp>
      <p:cxnSp>
        <p:nvCxnSpPr>
          <p:cNvPr id="63" name="Connector 62"/>
          <p:cNvCxnSpPr/>
          <p:nvPr/>
        </p:nvCxnSpPr>
        <p:spPr>
          <a:xfrm flipH="1">
            <a:off x="1600200" y="3840480"/>
            <a:ext cx="9052560" cy="0"/>
          </a:xfrm>
          <a:prstGeom prst="line">
            <a:avLst/>
          </a:prstGeom>
          <a:ln w="25400">
            <a:solidFill>
              <a:srgbClr val="A6916D"/>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200400" y="3886200"/>
            <a:ext cx="5852160" cy="365760"/>
          </a:xfrm>
          <a:prstGeom prst="rect">
            <a:avLst/>
          </a:prstGeom>
          <a:noFill/>
        </p:spPr>
        <p:txBody>
          <a:bodyPr wrap="square" lIns="73152" tIns="27432" rIns="73152" bIns="27432" anchor="t">
            <a:noAutofit/>
          </a:bodyPr>
          <a:lstStyle/>
          <a:p>
            <a:pPr algn="ctr">
              <a:lnSpc>
                <a:spcPct val="112000"/>
              </a:lnSpc>
              <a:spcAft>
                <a:spcPts val="600"/>
              </a:spcAft>
            </a:pPr>
            <a:r>
              <a:rPr sz="1600" b="0" i="1">
                <a:solidFill>
                  <a:srgbClr val="4D3727"/>
                </a:solidFill>
                <a:latin typeface="Calibri"/>
              </a:rPr>
              <a:t>The response returns to the browser</a:t>
            </a:r>
          </a:p>
        </p:txBody>
      </p:sp>
      <p:sp>
        <p:nvSpPr>
          <p:cNvPr id="65" name="Rounded Rectangle 64"/>
          <p:cNvSpPr/>
          <p:nvPr/>
        </p:nvSpPr>
        <p:spPr>
          <a:xfrm>
            <a:off x="640080" y="4389120"/>
            <a:ext cx="3520440" cy="123444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40080" y="4498848"/>
            <a:ext cx="64008" cy="101498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22959" y="4434840"/>
            <a:ext cx="3246120" cy="41148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Prediction</a:t>
            </a:r>
          </a:p>
        </p:txBody>
      </p:sp>
      <p:sp>
        <p:nvSpPr>
          <p:cNvPr id="68" name="TextBox 67"/>
          <p:cNvSpPr txBox="1"/>
          <p:nvPr/>
        </p:nvSpPr>
        <p:spPr>
          <a:xfrm>
            <a:off x="822959" y="4892040"/>
            <a:ext cx="3246120" cy="68580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Class label and confidence</a:t>
            </a:r>
          </a:p>
        </p:txBody>
      </p:sp>
      <p:sp>
        <p:nvSpPr>
          <p:cNvPr id="69" name="Rounded Rectangle 68"/>
          <p:cNvSpPr/>
          <p:nvPr/>
        </p:nvSpPr>
        <p:spPr>
          <a:xfrm>
            <a:off x="4343400" y="4389120"/>
            <a:ext cx="3520440" cy="123444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4343400" y="4498848"/>
            <a:ext cx="64008" cy="101498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526280" y="4434840"/>
            <a:ext cx="3246120" cy="41148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Guidance</a:t>
            </a:r>
          </a:p>
        </p:txBody>
      </p:sp>
      <p:sp>
        <p:nvSpPr>
          <p:cNvPr id="72" name="TextBox 71"/>
          <p:cNvSpPr txBox="1"/>
          <p:nvPr/>
        </p:nvSpPr>
        <p:spPr>
          <a:xfrm>
            <a:off x="4526280" y="4892040"/>
            <a:ext cx="3246120" cy="68580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Related disease information</a:t>
            </a:r>
          </a:p>
        </p:txBody>
      </p:sp>
      <p:sp>
        <p:nvSpPr>
          <p:cNvPr id="73" name="Rounded Rectangle 72"/>
          <p:cNvSpPr/>
          <p:nvPr/>
        </p:nvSpPr>
        <p:spPr>
          <a:xfrm>
            <a:off x="8046719" y="4389120"/>
            <a:ext cx="3520440" cy="123444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046719" y="4498848"/>
            <a:ext cx="64008" cy="101498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229599" y="4434840"/>
            <a:ext cx="3246120" cy="411480"/>
          </a:xfrm>
          <a:prstGeom prst="rect">
            <a:avLst/>
          </a:prstGeom>
          <a:noFill/>
        </p:spPr>
        <p:txBody>
          <a:bodyPr wrap="square" lIns="73152" tIns="27432" rIns="73152" bIns="27432" anchor="t">
            <a:noAutofit/>
          </a:bodyPr>
          <a:lstStyle/>
          <a:p>
            <a:pPr algn="l">
              <a:lnSpc>
                <a:spcPct val="112000"/>
              </a:lnSpc>
              <a:spcAft>
                <a:spcPts val="600"/>
              </a:spcAft>
            </a:pPr>
            <a:r>
              <a:rPr sz="1800" b="1" i="0">
                <a:solidFill>
                  <a:srgbClr val="4D3727"/>
                </a:solidFill>
                <a:latin typeface="Cambria"/>
              </a:rPr>
              <a:t>Interface</a:t>
            </a:r>
          </a:p>
        </p:txBody>
      </p:sp>
      <p:sp>
        <p:nvSpPr>
          <p:cNvPr id="76" name="TextBox 75"/>
          <p:cNvSpPr txBox="1"/>
          <p:nvPr/>
        </p:nvSpPr>
        <p:spPr>
          <a:xfrm>
            <a:off x="8229599" y="4892040"/>
            <a:ext cx="3246120" cy="685800"/>
          </a:xfrm>
          <a:prstGeom prst="rect">
            <a:avLst/>
          </a:prstGeom>
          <a:noFill/>
        </p:spPr>
        <p:txBody>
          <a:bodyPr wrap="square" lIns="73152" tIns="27432" rIns="73152" bIns="27432" anchor="t">
            <a:noAutofit/>
          </a:bodyPr>
          <a:lstStyle/>
          <a:p>
            <a:pPr algn="l">
              <a:lnSpc>
                <a:spcPct val="112000"/>
              </a:lnSpc>
              <a:spcAft>
                <a:spcPts val="600"/>
              </a:spcAft>
            </a:pPr>
            <a:r>
              <a:rPr sz="1600" b="0" i="0">
                <a:solidFill>
                  <a:srgbClr val="4D3727"/>
                </a:solidFill>
                <a:latin typeface="Calibri"/>
              </a:rPr>
              <a:t>Result shown to the user</a:t>
            </a:r>
          </a:p>
        </p:txBody>
      </p:sp>
      <p:sp>
        <p:nvSpPr>
          <p:cNvPr id="77" name="TextBox 76"/>
          <p:cNvSpPr txBox="1"/>
          <p:nvPr/>
        </p:nvSpPr>
        <p:spPr>
          <a:xfrm>
            <a:off x="640080" y="5760720"/>
            <a:ext cx="9509760" cy="640080"/>
          </a:xfrm>
          <a:prstGeom prst="rect">
            <a:avLst/>
          </a:prstGeom>
          <a:noFill/>
        </p:spPr>
        <p:txBody>
          <a:bodyPr wrap="square" lIns="73152" tIns="27432" rIns="73152" bIns="27432" anchor="ctr">
            <a:noAutofit/>
          </a:bodyPr>
          <a:lstStyle/>
          <a:p>
            <a:pPr algn="l">
              <a:lnSpc>
                <a:spcPct val="112000"/>
              </a:lnSpc>
              <a:spcAft>
                <a:spcPts val="600"/>
              </a:spcAft>
            </a:pPr>
            <a:r>
              <a:rPr sz="1400" b="0" i="1">
                <a:solidFill>
                  <a:srgbClr val="4D3727"/>
                </a:solidFill>
                <a:latin typeface="Calibri"/>
              </a:rPr>
              <a:t>Architecture as described in the project report. Live backend integration is confirmed during the demonstration, not assumed here.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27" name="Picture 26"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28" name="Picture 27" descr="leaf_11.png"/>
          <p:cNvPicPr>
            <a:picLocks noChangeAspect="1"/>
          </p:cNvPicPr>
          <p:nvPr/>
        </p:nvPicPr>
        <p:blipFill>
          <a:blip r:embed="rId3"/>
          <a:stretch>
            <a:fillRect/>
          </a:stretch>
        </p:blipFill>
        <p:spPr>
          <a:xfrm>
            <a:off x="10927080" y="530352"/>
            <a:ext cx="658368" cy="475488"/>
          </a:xfrm>
          <a:prstGeom prst="rect">
            <a:avLst/>
          </a:prstGeom>
        </p:spPr>
      </p:pic>
      <p:sp>
        <p:nvSpPr>
          <p:cNvPr id="29"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30"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Technologies Used</a:t>
            </a:r>
          </a:p>
        </p:txBody>
      </p:sp>
      <p:sp>
        <p:nvSpPr>
          <p:cNvPr id="31"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32"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dirty="0">
                <a:solidFill>
                  <a:srgbClr val="4D3727"/>
                </a:solidFill>
                <a:latin typeface="Calibri"/>
              </a:rPr>
              <a:t>1</a:t>
            </a:r>
            <a:r>
              <a:rPr lang="en-US" sz="1200" b="1" i="0" dirty="0">
                <a:solidFill>
                  <a:srgbClr val="4D3727"/>
                </a:solidFill>
                <a:latin typeface="Calibri"/>
              </a:rPr>
              <a:t>2</a:t>
            </a:r>
            <a:endParaRPr sz="1200" b="1" i="0" dirty="0">
              <a:solidFill>
                <a:srgbClr val="4D3727"/>
              </a:solidFill>
              <a:latin typeface="Calibri"/>
            </a:endParaRPr>
          </a:p>
        </p:txBody>
      </p:sp>
      <p:sp>
        <p:nvSpPr>
          <p:cNvPr id="33" name="Rounded Rectangle 32"/>
          <p:cNvSpPr/>
          <p:nvPr/>
        </p:nvSpPr>
        <p:spPr>
          <a:xfrm>
            <a:off x="640080" y="1371600"/>
            <a:ext cx="3520440" cy="2286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0080" y="1481328"/>
            <a:ext cx="64008" cy="206654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1508760"/>
            <a:ext cx="301752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Model development</a:t>
            </a:r>
          </a:p>
        </p:txBody>
      </p:sp>
      <p:sp>
        <p:nvSpPr>
          <p:cNvPr id="36" name="TextBox 35"/>
          <p:cNvSpPr txBox="1"/>
          <p:nvPr/>
        </p:nvSpPr>
        <p:spPr>
          <a:xfrm>
            <a:off x="914400" y="2103120"/>
            <a:ext cx="3017520" cy="1463040"/>
          </a:xfrm>
          <a:prstGeom prst="rect">
            <a:avLst/>
          </a:prstGeom>
          <a:noFill/>
        </p:spPr>
        <p:txBody>
          <a:bodyPr wrap="square" lIns="73152" tIns="27432" rIns="73152" bIns="27432" anchor="t">
            <a:noAutofit/>
          </a:bodyPr>
          <a:lstStyle/>
          <a:p>
            <a:pPr marL="246888" indent="-246888" algn="l">
              <a:lnSpc>
                <a:spcPct val="112000"/>
              </a:lnSpc>
              <a:spcAft>
                <a:spcPts val="900"/>
              </a:spcAft>
              <a:buClr>
                <a:srgbClr val="2B5B3A"/>
              </a:buClr>
              <a:buFont typeface="Arial"/>
              <a:buChar char="•"/>
            </a:pPr>
            <a:r>
              <a:rPr sz="2000" b="0" i="0">
                <a:solidFill>
                  <a:srgbClr val="4D3727"/>
                </a:solidFill>
                <a:latin typeface="Calibri"/>
              </a:rPr>
              <a:t>Python</a:t>
            </a:r>
          </a:p>
          <a:p>
            <a:pPr marL="246888" indent="-246888" algn="l">
              <a:lnSpc>
                <a:spcPct val="112000"/>
              </a:lnSpc>
              <a:spcAft>
                <a:spcPts val="900"/>
              </a:spcAft>
              <a:buClr>
                <a:srgbClr val="2B5B3A"/>
              </a:buClr>
              <a:buFont typeface="Arial"/>
              <a:buChar char="•"/>
            </a:pPr>
            <a:r>
              <a:rPr sz="2000" b="0" i="0">
                <a:solidFill>
                  <a:srgbClr val="4D3727"/>
                </a:solidFill>
                <a:latin typeface="Calibri"/>
              </a:rPr>
              <a:t>TensorFlow / Keras</a:t>
            </a:r>
          </a:p>
          <a:p>
            <a:pPr marL="246888" indent="-246888" algn="l">
              <a:lnSpc>
                <a:spcPct val="112000"/>
              </a:lnSpc>
              <a:spcAft>
                <a:spcPts val="900"/>
              </a:spcAft>
              <a:buClr>
                <a:srgbClr val="2B5B3A"/>
              </a:buClr>
              <a:buFont typeface="Arial"/>
              <a:buChar char="•"/>
            </a:pPr>
            <a:r>
              <a:rPr sz="2000" b="0" i="0">
                <a:solidFill>
                  <a:srgbClr val="4D3727"/>
                </a:solidFill>
                <a:latin typeface="Calibri"/>
              </a:rPr>
              <a:t>Google Colab</a:t>
            </a:r>
          </a:p>
        </p:txBody>
      </p:sp>
      <p:sp>
        <p:nvSpPr>
          <p:cNvPr id="37" name="Rounded Rectangle 36"/>
          <p:cNvSpPr/>
          <p:nvPr/>
        </p:nvSpPr>
        <p:spPr>
          <a:xfrm>
            <a:off x="4389120" y="1371600"/>
            <a:ext cx="3520440" cy="2286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389120" y="1481328"/>
            <a:ext cx="64008" cy="206654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1508760"/>
            <a:ext cx="301752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Data analysis</a:t>
            </a:r>
          </a:p>
        </p:txBody>
      </p:sp>
      <p:sp>
        <p:nvSpPr>
          <p:cNvPr id="40" name="TextBox 39"/>
          <p:cNvSpPr txBox="1"/>
          <p:nvPr/>
        </p:nvSpPr>
        <p:spPr>
          <a:xfrm>
            <a:off x="4663440" y="2103120"/>
            <a:ext cx="3017520" cy="1463040"/>
          </a:xfrm>
          <a:prstGeom prst="rect">
            <a:avLst/>
          </a:prstGeom>
          <a:noFill/>
        </p:spPr>
        <p:txBody>
          <a:bodyPr wrap="square" lIns="73152" tIns="27432" rIns="73152" bIns="27432" anchor="t">
            <a:noAutofit/>
          </a:bodyPr>
          <a:lstStyle/>
          <a:p>
            <a:pPr marL="246888" indent="-246888" algn="l">
              <a:lnSpc>
                <a:spcPct val="112000"/>
              </a:lnSpc>
              <a:spcAft>
                <a:spcPts val="900"/>
              </a:spcAft>
              <a:buClr>
                <a:srgbClr val="2B5B3A"/>
              </a:buClr>
              <a:buFont typeface="Arial"/>
              <a:buChar char="•"/>
            </a:pPr>
            <a:r>
              <a:rPr sz="2000" b="0" i="0">
                <a:solidFill>
                  <a:srgbClr val="4D3727"/>
                </a:solidFill>
                <a:latin typeface="Calibri"/>
              </a:rPr>
              <a:t>NumPy</a:t>
            </a:r>
          </a:p>
          <a:p>
            <a:pPr marL="246888" indent="-246888" algn="l">
              <a:lnSpc>
                <a:spcPct val="112000"/>
              </a:lnSpc>
              <a:spcAft>
                <a:spcPts val="900"/>
              </a:spcAft>
              <a:buClr>
                <a:srgbClr val="2B5B3A"/>
              </a:buClr>
              <a:buFont typeface="Arial"/>
              <a:buChar char="•"/>
            </a:pPr>
            <a:r>
              <a:rPr sz="2000" b="0" i="0">
                <a:solidFill>
                  <a:srgbClr val="4D3727"/>
                </a:solidFill>
                <a:latin typeface="Calibri"/>
              </a:rPr>
              <a:t>Pandas</a:t>
            </a:r>
          </a:p>
          <a:p>
            <a:pPr marL="246888" indent="-246888" algn="l">
              <a:lnSpc>
                <a:spcPct val="112000"/>
              </a:lnSpc>
              <a:spcAft>
                <a:spcPts val="900"/>
              </a:spcAft>
              <a:buClr>
                <a:srgbClr val="2B5B3A"/>
              </a:buClr>
              <a:buFont typeface="Arial"/>
              <a:buChar char="•"/>
            </a:pPr>
            <a:r>
              <a:rPr sz="2000" b="0" i="0">
                <a:solidFill>
                  <a:srgbClr val="4D3727"/>
                </a:solidFill>
                <a:latin typeface="Calibri"/>
              </a:rPr>
              <a:t>Matplotlib / Plotly</a:t>
            </a:r>
          </a:p>
        </p:txBody>
      </p:sp>
      <p:sp>
        <p:nvSpPr>
          <p:cNvPr id="41" name="Rounded Rectangle 40"/>
          <p:cNvSpPr/>
          <p:nvPr/>
        </p:nvSpPr>
        <p:spPr>
          <a:xfrm>
            <a:off x="8138159" y="1371600"/>
            <a:ext cx="3520440" cy="2286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138159" y="1481328"/>
            <a:ext cx="64008" cy="206654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12480" y="1508760"/>
            <a:ext cx="301752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Image handling</a:t>
            </a:r>
          </a:p>
        </p:txBody>
      </p:sp>
      <p:sp>
        <p:nvSpPr>
          <p:cNvPr id="44" name="TextBox 43"/>
          <p:cNvSpPr txBox="1"/>
          <p:nvPr/>
        </p:nvSpPr>
        <p:spPr>
          <a:xfrm>
            <a:off x="8412480" y="2103120"/>
            <a:ext cx="3017520" cy="1463040"/>
          </a:xfrm>
          <a:prstGeom prst="rect">
            <a:avLst/>
          </a:prstGeom>
          <a:noFill/>
        </p:spPr>
        <p:txBody>
          <a:bodyPr wrap="square" lIns="73152" tIns="27432" rIns="73152" bIns="27432" anchor="t">
            <a:noAutofit/>
          </a:bodyPr>
          <a:lstStyle/>
          <a:p>
            <a:pPr marL="246888" indent="-246888" algn="l">
              <a:lnSpc>
                <a:spcPct val="112000"/>
              </a:lnSpc>
              <a:spcAft>
                <a:spcPts val="900"/>
              </a:spcAft>
              <a:buClr>
                <a:srgbClr val="2B5B3A"/>
              </a:buClr>
              <a:buFont typeface="Arial"/>
              <a:buChar char="•"/>
            </a:pPr>
            <a:r>
              <a:rPr sz="2000" b="0" i="0">
                <a:solidFill>
                  <a:srgbClr val="4D3727"/>
                </a:solidFill>
                <a:latin typeface="Calibri"/>
              </a:rPr>
              <a:t>Pillow</a:t>
            </a:r>
          </a:p>
        </p:txBody>
      </p:sp>
      <p:sp>
        <p:nvSpPr>
          <p:cNvPr id="45" name="Rounded Rectangle 44"/>
          <p:cNvSpPr/>
          <p:nvPr/>
        </p:nvSpPr>
        <p:spPr>
          <a:xfrm>
            <a:off x="2468880" y="3886200"/>
            <a:ext cx="3520440" cy="2286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468880" y="3995928"/>
            <a:ext cx="64008" cy="206654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0" y="4023360"/>
            <a:ext cx="301752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Backend</a:t>
            </a:r>
          </a:p>
        </p:txBody>
      </p:sp>
      <p:sp>
        <p:nvSpPr>
          <p:cNvPr id="48" name="TextBox 47"/>
          <p:cNvSpPr txBox="1"/>
          <p:nvPr/>
        </p:nvSpPr>
        <p:spPr>
          <a:xfrm>
            <a:off x="2743200" y="4617720"/>
            <a:ext cx="3017520" cy="1463040"/>
          </a:xfrm>
          <a:prstGeom prst="rect">
            <a:avLst/>
          </a:prstGeom>
          <a:noFill/>
        </p:spPr>
        <p:txBody>
          <a:bodyPr wrap="square" lIns="73152" tIns="27432" rIns="73152" bIns="27432" anchor="t">
            <a:noAutofit/>
          </a:bodyPr>
          <a:lstStyle/>
          <a:p>
            <a:pPr marL="246888" indent="-246888" algn="l">
              <a:lnSpc>
                <a:spcPct val="112000"/>
              </a:lnSpc>
              <a:spcAft>
                <a:spcPts val="900"/>
              </a:spcAft>
              <a:buClr>
                <a:srgbClr val="2B5B3A"/>
              </a:buClr>
              <a:buFont typeface="Arial"/>
              <a:buChar char="•"/>
            </a:pPr>
            <a:r>
              <a:rPr sz="2000" b="0" i="0">
                <a:solidFill>
                  <a:srgbClr val="4D3727"/>
                </a:solidFill>
                <a:latin typeface="Calibri"/>
              </a:rPr>
              <a:t>FastAPI</a:t>
            </a:r>
          </a:p>
          <a:p>
            <a:pPr marL="246888" indent="-246888" algn="l">
              <a:lnSpc>
                <a:spcPct val="112000"/>
              </a:lnSpc>
              <a:spcAft>
                <a:spcPts val="900"/>
              </a:spcAft>
              <a:buClr>
                <a:srgbClr val="2B5B3A"/>
              </a:buClr>
              <a:buFont typeface="Arial"/>
              <a:buChar char="•"/>
            </a:pPr>
            <a:r>
              <a:rPr sz="2000" b="0" i="0">
                <a:solidFill>
                  <a:srgbClr val="4D3727"/>
                </a:solidFill>
                <a:latin typeface="Calibri"/>
              </a:rPr>
              <a:t>Uvicorn</a:t>
            </a:r>
          </a:p>
          <a:p>
            <a:pPr marL="246888" indent="-246888" algn="l">
              <a:lnSpc>
                <a:spcPct val="112000"/>
              </a:lnSpc>
              <a:spcAft>
                <a:spcPts val="900"/>
              </a:spcAft>
              <a:buClr>
                <a:srgbClr val="2B5B3A"/>
              </a:buClr>
              <a:buFont typeface="Arial"/>
              <a:buChar char="•"/>
            </a:pPr>
            <a:r>
              <a:rPr sz="2000" b="0" i="0">
                <a:solidFill>
                  <a:srgbClr val="4D3727"/>
                </a:solidFill>
                <a:latin typeface="Calibri"/>
              </a:rPr>
              <a:t>Pydantic</a:t>
            </a:r>
          </a:p>
        </p:txBody>
      </p:sp>
      <p:sp>
        <p:nvSpPr>
          <p:cNvPr id="49" name="Rounded Rectangle 48"/>
          <p:cNvSpPr/>
          <p:nvPr/>
        </p:nvSpPr>
        <p:spPr>
          <a:xfrm>
            <a:off x="6217920" y="3886200"/>
            <a:ext cx="3520440" cy="228600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217920" y="3995928"/>
            <a:ext cx="64008" cy="2066543"/>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92240" y="4023360"/>
            <a:ext cx="3017520" cy="457200"/>
          </a:xfrm>
          <a:prstGeom prst="rect">
            <a:avLst/>
          </a:prstGeom>
          <a:noFill/>
        </p:spPr>
        <p:txBody>
          <a:bodyPr wrap="square" lIns="73152" tIns="27432" rIns="73152" bIns="27432" anchor="t">
            <a:noAutofit/>
          </a:bodyPr>
          <a:lstStyle/>
          <a:p>
            <a:pPr algn="l">
              <a:lnSpc>
                <a:spcPct val="112000"/>
              </a:lnSpc>
              <a:spcAft>
                <a:spcPts val="600"/>
              </a:spcAft>
            </a:pPr>
            <a:r>
              <a:rPr sz="2100" b="1" i="0">
                <a:solidFill>
                  <a:srgbClr val="4D3727"/>
                </a:solidFill>
                <a:latin typeface="Cambria"/>
              </a:rPr>
              <a:t>Frontend</a:t>
            </a:r>
          </a:p>
        </p:txBody>
      </p:sp>
      <p:sp>
        <p:nvSpPr>
          <p:cNvPr id="52" name="TextBox 51"/>
          <p:cNvSpPr txBox="1"/>
          <p:nvPr/>
        </p:nvSpPr>
        <p:spPr>
          <a:xfrm>
            <a:off x="6492240" y="4617720"/>
            <a:ext cx="3017520" cy="1463040"/>
          </a:xfrm>
          <a:prstGeom prst="rect">
            <a:avLst/>
          </a:prstGeom>
          <a:noFill/>
        </p:spPr>
        <p:txBody>
          <a:bodyPr wrap="square" lIns="73152" tIns="27432" rIns="73152" bIns="27432" anchor="t">
            <a:noAutofit/>
          </a:bodyPr>
          <a:lstStyle/>
          <a:p>
            <a:pPr marL="246888" indent="-246888" algn="l">
              <a:lnSpc>
                <a:spcPct val="112000"/>
              </a:lnSpc>
              <a:spcAft>
                <a:spcPts val="900"/>
              </a:spcAft>
              <a:buClr>
                <a:srgbClr val="2B5B3A"/>
              </a:buClr>
              <a:buFont typeface="Arial"/>
              <a:buChar char="•"/>
            </a:pPr>
            <a:r>
              <a:rPr sz="2000" b="0" i="0">
                <a:solidFill>
                  <a:srgbClr val="4D3727"/>
                </a:solidFill>
                <a:latin typeface="Calibri"/>
              </a:rPr>
              <a:t>React</a:t>
            </a:r>
          </a:p>
          <a:p>
            <a:pPr marL="246888" indent="-246888" algn="l">
              <a:lnSpc>
                <a:spcPct val="112000"/>
              </a:lnSpc>
              <a:spcAft>
                <a:spcPts val="900"/>
              </a:spcAft>
              <a:buClr>
                <a:srgbClr val="2B5B3A"/>
              </a:buClr>
              <a:buFont typeface="Arial"/>
              <a:buChar char="•"/>
            </a:pPr>
            <a:r>
              <a:rPr sz="2000" b="0" i="0">
                <a:solidFill>
                  <a:srgbClr val="4D3727"/>
                </a:solidFill>
                <a:latin typeface="Calibri"/>
              </a:rPr>
              <a:t>Vite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22" name="Picture 21" descr="wide_minimalist_clean_background_image_a_soft.png"/>
          <p:cNvPicPr>
            <a:picLocks noChangeAspect="1"/>
          </p:cNvPicPr>
          <p:nvPr/>
        </p:nvPicPr>
        <p:blipFill>
          <a:blip r:embed="rId2"/>
          <a:stretch>
            <a:fillRect/>
          </a:stretch>
        </p:blipFill>
        <p:spPr>
          <a:xfrm>
            <a:off x="0" y="0"/>
            <a:ext cx="12191695" cy="6858000"/>
          </a:xfrm>
          <a:prstGeom prst="rect">
            <a:avLst/>
          </a:prstGeom>
        </p:spPr>
      </p:pic>
      <p:pic>
        <p:nvPicPr>
          <p:cNvPr id="23" name="Picture 22" descr="leaf_14.png"/>
          <p:cNvPicPr>
            <a:picLocks noChangeAspect="1"/>
          </p:cNvPicPr>
          <p:nvPr/>
        </p:nvPicPr>
        <p:blipFill>
          <a:blip r:embed="rId3"/>
          <a:stretch>
            <a:fillRect/>
          </a:stretch>
        </p:blipFill>
        <p:spPr>
          <a:xfrm>
            <a:off x="10927080" y="530352"/>
            <a:ext cx="658368" cy="475488"/>
          </a:xfrm>
          <a:prstGeom prst="rect">
            <a:avLst/>
          </a:prstGeom>
        </p:spPr>
      </p:pic>
      <p:sp>
        <p:nvSpPr>
          <p:cNvPr id="24" name="Kicker"/>
          <p:cNvSpPr txBox="1"/>
          <p:nvPr/>
        </p:nvSpPr>
        <p:spPr>
          <a:xfrm>
            <a:off x="502920" y="182880"/>
            <a:ext cx="9601200" cy="274320"/>
          </a:xfrm>
          <a:prstGeom prst="rect">
            <a:avLst/>
          </a:prstGeom>
          <a:noFill/>
        </p:spPr>
        <p:txBody>
          <a:bodyPr wrap="square" lIns="73152" tIns="27432" rIns="73152" bIns="27432" anchor="t">
            <a:noAutofit/>
          </a:bodyPr>
          <a:lstStyle/>
          <a:p>
            <a:pPr algn="l">
              <a:lnSpc>
                <a:spcPct val="112000"/>
              </a:lnSpc>
              <a:spcAft>
                <a:spcPts val="600"/>
              </a:spcAft>
            </a:pPr>
            <a:r>
              <a:rPr sz="1100" b="1" i="0">
                <a:solidFill>
                  <a:srgbClr val="4D3727"/>
                </a:solidFill>
                <a:latin typeface="Calibri"/>
              </a:rPr>
              <a:t>PLANT RX  |  M.SC. APPLIED DATA SCIENCE</a:t>
            </a:r>
          </a:p>
        </p:txBody>
      </p:sp>
      <p:sp>
        <p:nvSpPr>
          <p:cNvPr id="25" name="Title"/>
          <p:cNvSpPr txBox="1"/>
          <p:nvPr/>
        </p:nvSpPr>
        <p:spPr>
          <a:xfrm>
            <a:off x="502920" y="457200"/>
            <a:ext cx="10241280" cy="685800"/>
          </a:xfrm>
          <a:prstGeom prst="rect">
            <a:avLst/>
          </a:prstGeom>
          <a:noFill/>
        </p:spPr>
        <p:txBody>
          <a:bodyPr wrap="square" lIns="73152" tIns="27432" rIns="73152" bIns="27432" anchor="ctr">
            <a:noAutofit/>
          </a:bodyPr>
          <a:lstStyle/>
          <a:p>
            <a:pPr algn="l">
              <a:lnSpc>
                <a:spcPct val="112000"/>
              </a:lnSpc>
              <a:spcAft>
                <a:spcPts val="600"/>
              </a:spcAft>
            </a:pPr>
            <a:r>
              <a:rPr sz="3200" b="1" i="0">
                <a:solidFill>
                  <a:srgbClr val="5C3B25"/>
                </a:solidFill>
                <a:latin typeface="Cambria"/>
              </a:rPr>
              <a:t>Results, Limitations and Future Work</a:t>
            </a:r>
          </a:p>
        </p:txBody>
      </p:sp>
      <p:sp>
        <p:nvSpPr>
          <p:cNvPr id="26" name="Footer"/>
          <p:cNvSpPr txBox="1"/>
          <p:nvPr/>
        </p:nvSpPr>
        <p:spPr>
          <a:xfrm>
            <a:off x="502920" y="6473952"/>
            <a:ext cx="6400800" cy="256032"/>
          </a:xfrm>
          <a:prstGeom prst="rect">
            <a:avLst/>
          </a:prstGeom>
          <a:noFill/>
        </p:spPr>
        <p:txBody>
          <a:bodyPr wrap="square" lIns="73152" tIns="27432" rIns="73152" bIns="27432" anchor="t">
            <a:noAutofit/>
          </a:bodyPr>
          <a:lstStyle/>
          <a:p>
            <a:pPr algn="l">
              <a:lnSpc>
                <a:spcPct val="112000"/>
              </a:lnSpc>
              <a:spcAft>
                <a:spcPts val="600"/>
              </a:spcAft>
            </a:pPr>
            <a:r>
              <a:rPr sz="1000" b="1" i="0">
                <a:solidFill>
                  <a:srgbClr val="4D3727"/>
                </a:solidFill>
                <a:latin typeface="Calibri"/>
              </a:rPr>
              <a:t>PLANT DISEASE DETECTION SYSTEM</a:t>
            </a:r>
          </a:p>
        </p:txBody>
      </p:sp>
      <p:sp>
        <p:nvSpPr>
          <p:cNvPr id="27" name="Slide number"/>
          <p:cNvSpPr txBox="1"/>
          <p:nvPr/>
        </p:nvSpPr>
        <p:spPr>
          <a:xfrm>
            <a:off x="10789920" y="6455664"/>
            <a:ext cx="868680" cy="274320"/>
          </a:xfrm>
          <a:prstGeom prst="rect">
            <a:avLst/>
          </a:prstGeom>
          <a:noFill/>
        </p:spPr>
        <p:txBody>
          <a:bodyPr wrap="square" lIns="73152" tIns="27432" rIns="73152" bIns="27432" anchor="t">
            <a:noAutofit/>
          </a:bodyPr>
          <a:lstStyle/>
          <a:p>
            <a:pPr algn="r">
              <a:lnSpc>
                <a:spcPct val="112000"/>
              </a:lnSpc>
              <a:spcAft>
                <a:spcPts val="600"/>
              </a:spcAft>
            </a:pPr>
            <a:r>
              <a:rPr sz="1200" b="1" i="0">
                <a:solidFill>
                  <a:srgbClr val="4D3727"/>
                </a:solidFill>
                <a:latin typeface="Calibri"/>
              </a:rPr>
              <a:t>14</a:t>
            </a:r>
          </a:p>
        </p:txBody>
      </p:sp>
      <p:sp>
        <p:nvSpPr>
          <p:cNvPr id="28" name="Rounded Rectangle 27"/>
          <p:cNvSpPr/>
          <p:nvPr/>
        </p:nvSpPr>
        <p:spPr>
          <a:xfrm>
            <a:off x="640080" y="1234440"/>
            <a:ext cx="3520440" cy="379476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0080" y="1344168"/>
            <a:ext cx="64008" cy="357530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1247" y="1325880"/>
            <a:ext cx="3200400" cy="457200"/>
          </a:xfrm>
          <a:prstGeom prst="rect">
            <a:avLst/>
          </a:prstGeom>
          <a:noFill/>
        </p:spPr>
        <p:txBody>
          <a:bodyPr wrap="square" lIns="73152" tIns="27432" rIns="73152" bIns="27432" anchor="t">
            <a:noAutofit/>
          </a:bodyPr>
          <a:lstStyle/>
          <a:p>
            <a:pPr algn="l">
              <a:lnSpc>
                <a:spcPct val="112000"/>
              </a:lnSpc>
              <a:spcAft>
                <a:spcPts val="600"/>
              </a:spcAft>
            </a:pPr>
            <a:r>
              <a:rPr sz="1900" b="1" i="0">
                <a:solidFill>
                  <a:srgbClr val="4D3727"/>
                </a:solidFill>
                <a:latin typeface="Cambria"/>
              </a:rPr>
              <a:t>Results</a:t>
            </a:r>
          </a:p>
        </p:txBody>
      </p:sp>
      <p:sp>
        <p:nvSpPr>
          <p:cNvPr id="31" name="TextBox 30"/>
          <p:cNvSpPr txBox="1"/>
          <p:nvPr/>
        </p:nvSpPr>
        <p:spPr>
          <a:xfrm>
            <a:off x="841247" y="1874519"/>
            <a:ext cx="3200400" cy="3108960"/>
          </a:xfrm>
          <a:prstGeom prst="rect">
            <a:avLst/>
          </a:prstGeom>
          <a:noFill/>
        </p:spPr>
        <p:txBody>
          <a:bodyPr wrap="square" lIns="73152" tIns="27432" rIns="73152" bIns="27432" anchor="t">
            <a:noAutofit/>
          </a:bodyPr>
          <a:lstStyle/>
          <a:p>
            <a:pPr marL="246888" indent="-246888" algn="l">
              <a:lnSpc>
                <a:spcPct val="112000"/>
              </a:lnSpc>
              <a:spcAft>
                <a:spcPts val="1100"/>
              </a:spcAft>
              <a:buClr>
                <a:srgbClr val="2B5B3A"/>
              </a:buClr>
              <a:buFont typeface="Arial"/>
              <a:buChar char="•"/>
            </a:pPr>
            <a:r>
              <a:rPr sz="1600" b="0" i="0">
                <a:solidFill>
                  <a:srgbClr val="4D3727"/>
                </a:solidFill>
                <a:latin typeface="Calibri"/>
              </a:rPr>
              <a:t>MobileNetV2: 97% reported</a:t>
            </a:r>
          </a:p>
          <a:p>
            <a:pPr marL="246888" indent="-246888" algn="l">
              <a:lnSpc>
                <a:spcPct val="112000"/>
              </a:lnSpc>
              <a:spcAft>
                <a:spcPts val="1100"/>
              </a:spcAft>
              <a:buClr>
                <a:srgbClr val="2B5B3A"/>
              </a:buClr>
              <a:buFont typeface="Arial"/>
              <a:buChar char="•"/>
            </a:pPr>
            <a:r>
              <a:rPr sz="1600" b="0" i="0">
                <a:solidFill>
                  <a:srgbClr val="4D3727"/>
                </a:solidFill>
                <a:latin typeface="Calibri"/>
              </a:rPr>
              <a:t>38 classes across 14 crops</a:t>
            </a:r>
          </a:p>
          <a:p>
            <a:pPr marL="246888" indent="-246888" algn="l">
              <a:lnSpc>
                <a:spcPct val="112000"/>
              </a:lnSpc>
              <a:spcAft>
                <a:spcPts val="1100"/>
              </a:spcAft>
              <a:buClr>
                <a:srgbClr val="2B5B3A"/>
              </a:buClr>
              <a:buFont typeface="Arial"/>
              <a:buChar char="•"/>
            </a:pPr>
            <a:r>
              <a:rPr sz="1600" b="0" i="0">
                <a:solidFill>
                  <a:srgbClr val="4D3727"/>
                </a:solidFill>
                <a:latin typeface="Calibri"/>
              </a:rPr>
              <a:t>Lightweight model chosen for practical serving</a:t>
            </a:r>
          </a:p>
          <a:p>
            <a:pPr marL="246888" indent="-246888" algn="l">
              <a:lnSpc>
                <a:spcPct val="112000"/>
              </a:lnSpc>
              <a:spcAft>
                <a:spcPts val="1100"/>
              </a:spcAft>
              <a:buClr>
                <a:srgbClr val="2B5B3A"/>
              </a:buClr>
              <a:buFont typeface="Arial"/>
              <a:buChar char="•"/>
            </a:pPr>
            <a:r>
              <a:rPr sz="1600" b="0" i="0">
                <a:solidFill>
                  <a:srgbClr val="4D3727"/>
                </a:solidFill>
                <a:latin typeface="Calibri"/>
              </a:rPr>
              <a:t>End-to-end concept: upload, predict, guidance</a:t>
            </a:r>
          </a:p>
        </p:txBody>
      </p:sp>
      <p:sp>
        <p:nvSpPr>
          <p:cNvPr id="32" name="Rounded Rectangle 31"/>
          <p:cNvSpPr/>
          <p:nvPr/>
        </p:nvSpPr>
        <p:spPr>
          <a:xfrm>
            <a:off x="4389120" y="1234440"/>
            <a:ext cx="3520440" cy="379476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1344168"/>
            <a:ext cx="64008" cy="357530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90288" y="1325880"/>
            <a:ext cx="3200400" cy="457200"/>
          </a:xfrm>
          <a:prstGeom prst="rect">
            <a:avLst/>
          </a:prstGeom>
          <a:noFill/>
        </p:spPr>
        <p:txBody>
          <a:bodyPr wrap="square" lIns="73152" tIns="27432" rIns="73152" bIns="27432" anchor="t">
            <a:noAutofit/>
          </a:bodyPr>
          <a:lstStyle/>
          <a:p>
            <a:pPr algn="l">
              <a:lnSpc>
                <a:spcPct val="112000"/>
              </a:lnSpc>
              <a:spcAft>
                <a:spcPts val="600"/>
              </a:spcAft>
            </a:pPr>
            <a:r>
              <a:rPr sz="1900" b="1" i="0">
                <a:solidFill>
                  <a:srgbClr val="4D3727"/>
                </a:solidFill>
                <a:latin typeface="Cambria"/>
              </a:rPr>
              <a:t>Challenges and limitations</a:t>
            </a:r>
          </a:p>
        </p:txBody>
      </p:sp>
      <p:sp>
        <p:nvSpPr>
          <p:cNvPr id="35" name="TextBox 34"/>
          <p:cNvSpPr txBox="1"/>
          <p:nvPr/>
        </p:nvSpPr>
        <p:spPr>
          <a:xfrm>
            <a:off x="4590288" y="1874519"/>
            <a:ext cx="3200400" cy="3108960"/>
          </a:xfrm>
          <a:prstGeom prst="rect">
            <a:avLst/>
          </a:prstGeom>
          <a:noFill/>
        </p:spPr>
        <p:txBody>
          <a:bodyPr wrap="square" lIns="73152" tIns="27432" rIns="73152" bIns="27432" anchor="t">
            <a:noAutofit/>
          </a:bodyPr>
          <a:lstStyle/>
          <a:p>
            <a:pPr marL="246888" indent="-246888" algn="l">
              <a:lnSpc>
                <a:spcPct val="112000"/>
              </a:lnSpc>
              <a:spcAft>
                <a:spcPts val="1100"/>
              </a:spcAft>
              <a:buClr>
                <a:srgbClr val="2B5B3A"/>
              </a:buClr>
              <a:buFont typeface="Arial"/>
              <a:buChar char="•"/>
            </a:pPr>
            <a:r>
              <a:rPr sz="1600" b="0" i="0" dirty="0">
                <a:solidFill>
                  <a:srgbClr val="4D3727"/>
                </a:solidFill>
                <a:latin typeface="Calibri"/>
              </a:rPr>
              <a:t>Only 38 known classes</a:t>
            </a:r>
          </a:p>
          <a:p>
            <a:pPr marL="246888" indent="-246888" algn="l">
              <a:lnSpc>
                <a:spcPct val="112000"/>
              </a:lnSpc>
              <a:spcAft>
                <a:spcPts val="1100"/>
              </a:spcAft>
              <a:buClr>
                <a:srgbClr val="2B5B3A"/>
              </a:buClr>
              <a:buFont typeface="Arial"/>
              <a:buChar char="•"/>
            </a:pPr>
            <a:r>
              <a:rPr sz="1600" b="0" i="0" dirty="0">
                <a:solidFill>
                  <a:srgbClr val="4D3727"/>
                </a:solidFill>
                <a:latin typeface="Calibri"/>
              </a:rPr>
              <a:t>Uneven class distribution</a:t>
            </a:r>
          </a:p>
          <a:p>
            <a:pPr marL="246888" indent="-246888" algn="l">
              <a:lnSpc>
                <a:spcPct val="112000"/>
              </a:lnSpc>
              <a:spcAft>
                <a:spcPts val="1100"/>
              </a:spcAft>
              <a:buClr>
                <a:srgbClr val="2B5B3A"/>
              </a:buClr>
              <a:buFont typeface="Arial"/>
              <a:buChar char="•"/>
            </a:pPr>
            <a:r>
              <a:rPr sz="1600" b="0" i="0" dirty="0">
                <a:solidFill>
                  <a:srgbClr val="4D3727"/>
                </a:solidFill>
                <a:latin typeface="Calibri"/>
              </a:rPr>
              <a:t>Mostly controlled dataset images</a:t>
            </a:r>
          </a:p>
          <a:p>
            <a:pPr marL="246888" indent="-246888" algn="l">
              <a:lnSpc>
                <a:spcPct val="112000"/>
              </a:lnSpc>
              <a:spcAft>
                <a:spcPts val="1100"/>
              </a:spcAft>
              <a:buClr>
                <a:srgbClr val="2B5B3A"/>
              </a:buClr>
              <a:buFont typeface="Arial"/>
              <a:buChar char="•"/>
            </a:pPr>
            <a:r>
              <a:rPr sz="1600" b="0" i="0" dirty="0">
                <a:solidFill>
                  <a:srgbClr val="4D3727"/>
                </a:solidFill>
                <a:latin typeface="Calibri"/>
              </a:rPr>
              <a:t>Reported results only</a:t>
            </a:r>
          </a:p>
          <a:p>
            <a:pPr marL="246888" indent="-246888" algn="l">
              <a:lnSpc>
                <a:spcPct val="112000"/>
              </a:lnSpc>
              <a:spcAft>
                <a:spcPts val="1100"/>
              </a:spcAft>
              <a:buClr>
                <a:srgbClr val="2B5B3A"/>
              </a:buClr>
              <a:buFont typeface="Arial"/>
              <a:buChar char="•"/>
            </a:pPr>
            <a:r>
              <a:rPr sz="1600" b="0" i="0" dirty="0">
                <a:solidFill>
                  <a:srgbClr val="4D3727"/>
                </a:solidFill>
                <a:latin typeface="Calibri"/>
              </a:rPr>
              <a:t>Real-world accuracy not verified</a:t>
            </a:r>
          </a:p>
        </p:txBody>
      </p:sp>
      <p:sp>
        <p:nvSpPr>
          <p:cNvPr id="36" name="Rounded Rectangle 35"/>
          <p:cNvSpPr/>
          <p:nvPr/>
        </p:nvSpPr>
        <p:spPr>
          <a:xfrm>
            <a:off x="8138159" y="1234440"/>
            <a:ext cx="3520440" cy="3794760"/>
          </a:xfrm>
          <a:prstGeom prst="roundRect">
            <a:avLst>
              <a:gd name="adj" fmla="val 6000"/>
            </a:avLst>
          </a:prstGeom>
          <a:solidFill>
            <a:srgbClr val="FFFDF7"/>
          </a:solidFill>
          <a:ln w="9525">
            <a:solidFill>
              <a:srgbClr val="DB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138159" y="1344168"/>
            <a:ext cx="64008" cy="3575304"/>
          </a:xfrm>
          <a:prstGeom prst="rect">
            <a:avLst/>
          </a:prstGeom>
          <a:solidFill>
            <a:srgbClr val="2B5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39327" y="1325880"/>
            <a:ext cx="3200400" cy="457200"/>
          </a:xfrm>
          <a:prstGeom prst="rect">
            <a:avLst/>
          </a:prstGeom>
          <a:noFill/>
        </p:spPr>
        <p:txBody>
          <a:bodyPr wrap="square" lIns="73152" tIns="27432" rIns="73152" bIns="27432" anchor="t">
            <a:noAutofit/>
          </a:bodyPr>
          <a:lstStyle/>
          <a:p>
            <a:pPr algn="l">
              <a:lnSpc>
                <a:spcPct val="112000"/>
              </a:lnSpc>
              <a:spcAft>
                <a:spcPts val="600"/>
              </a:spcAft>
            </a:pPr>
            <a:r>
              <a:rPr sz="1900" b="1" i="0">
                <a:solidFill>
                  <a:srgbClr val="4D3727"/>
                </a:solidFill>
                <a:latin typeface="Cambria"/>
              </a:rPr>
              <a:t>Future enhancements</a:t>
            </a:r>
          </a:p>
        </p:txBody>
      </p:sp>
      <p:sp>
        <p:nvSpPr>
          <p:cNvPr id="39" name="TextBox 38"/>
          <p:cNvSpPr txBox="1"/>
          <p:nvPr/>
        </p:nvSpPr>
        <p:spPr>
          <a:xfrm>
            <a:off x="8339327" y="1874519"/>
            <a:ext cx="3200400" cy="3108960"/>
          </a:xfrm>
          <a:prstGeom prst="rect">
            <a:avLst/>
          </a:prstGeom>
          <a:noFill/>
        </p:spPr>
        <p:txBody>
          <a:bodyPr wrap="square" lIns="73152" tIns="27432" rIns="73152" bIns="27432" anchor="t">
            <a:noAutofit/>
          </a:bodyPr>
          <a:lstStyle/>
          <a:p>
            <a:pPr marL="246888" indent="-246888" algn="l">
              <a:lnSpc>
                <a:spcPct val="112000"/>
              </a:lnSpc>
              <a:spcAft>
                <a:spcPts val="1100"/>
              </a:spcAft>
              <a:buClr>
                <a:srgbClr val="2B5B3A"/>
              </a:buClr>
              <a:buFont typeface="Arial"/>
              <a:buChar char="•"/>
            </a:pPr>
            <a:r>
              <a:rPr sz="1600" b="0" i="0">
                <a:solidFill>
                  <a:srgbClr val="4D3727"/>
                </a:solidFill>
                <a:latin typeface="Calibri"/>
              </a:rPr>
              <a:t>More field-captured images</a:t>
            </a:r>
          </a:p>
          <a:p>
            <a:pPr marL="246888" indent="-246888" algn="l">
              <a:lnSpc>
                <a:spcPct val="112000"/>
              </a:lnSpc>
              <a:spcAft>
                <a:spcPts val="1100"/>
              </a:spcAft>
              <a:buClr>
                <a:srgbClr val="2B5B3A"/>
              </a:buClr>
              <a:buFont typeface="Arial"/>
              <a:buChar char="•"/>
            </a:pPr>
            <a:r>
              <a:rPr sz="1600" b="0" i="0">
                <a:solidFill>
                  <a:srgbClr val="4D3727"/>
                </a:solidFill>
                <a:latin typeface="Calibri"/>
              </a:rPr>
              <a:t>Broader class coverage</a:t>
            </a:r>
          </a:p>
          <a:p>
            <a:pPr marL="246888" indent="-246888" algn="l">
              <a:lnSpc>
                <a:spcPct val="112000"/>
              </a:lnSpc>
              <a:spcAft>
                <a:spcPts val="1100"/>
              </a:spcAft>
              <a:buClr>
                <a:srgbClr val="2B5B3A"/>
              </a:buClr>
              <a:buFont typeface="Arial"/>
              <a:buChar char="•"/>
            </a:pPr>
            <a:r>
              <a:rPr sz="1600" b="0" i="0">
                <a:solidFill>
                  <a:srgbClr val="4D3727"/>
                </a:solidFill>
                <a:latin typeface="Calibri"/>
              </a:rPr>
              <a:t>Improved, consistent model testing</a:t>
            </a:r>
          </a:p>
          <a:p>
            <a:pPr marL="246888" indent="-246888" algn="l">
              <a:lnSpc>
                <a:spcPct val="112000"/>
              </a:lnSpc>
              <a:spcAft>
                <a:spcPts val="1100"/>
              </a:spcAft>
              <a:buClr>
                <a:srgbClr val="2B5B3A"/>
              </a:buClr>
              <a:buFont typeface="Arial"/>
              <a:buChar char="•"/>
            </a:pPr>
            <a:r>
              <a:rPr sz="1600" b="0" i="0">
                <a:solidFill>
                  <a:srgbClr val="4D3727"/>
                </a:solidFill>
                <a:latin typeface="Calibri"/>
              </a:rPr>
              <a:t>Validate backend end to end</a:t>
            </a:r>
          </a:p>
          <a:p>
            <a:pPr marL="246888" indent="-246888" algn="l">
              <a:lnSpc>
                <a:spcPct val="112000"/>
              </a:lnSpc>
              <a:spcAft>
                <a:spcPts val="1100"/>
              </a:spcAft>
              <a:buClr>
                <a:srgbClr val="2B5B3A"/>
              </a:buClr>
              <a:buFont typeface="Arial"/>
              <a:buChar char="•"/>
            </a:pPr>
            <a:r>
              <a:rPr sz="1600" b="0" i="0">
                <a:solidFill>
                  <a:srgbClr val="4D3727"/>
                </a:solidFill>
                <a:latin typeface="Calibri"/>
              </a:rPr>
              <a:t>Expert-reviewed guidance</a:t>
            </a:r>
          </a:p>
        </p:txBody>
      </p:sp>
      <p:sp>
        <p:nvSpPr>
          <p:cNvPr id="40" name="Rounded Rectangle 39"/>
          <p:cNvSpPr/>
          <p:nvPr/>
        </p:nvSpPr>
        <p:spPr>
          <a:xfrm>
            <a:off x="640080" y="5212080"/>
            <a:ext cx="10927080" cy="1097280"/>
          </a:xfrm>
          <a:prstGeom prst="roundRect">
            <a:avLst>
              <a:gd name="adj" fmla="val 12000"/>
            </a:avLst>
          </a:prstGeom>
          <a:solidFill>
            <a:srgbClr val="E8EFE2"/>
          </a:solidFill>
          <a:ln w="15875">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68680" y="5230368"/>
            <a:ext cx="10515600" cy="1051560"/>
          </a:xfrm>
          <a:prstGeom prst="rect">
            <a:avLst/>
          </a:prstGeom>
          <a:noFill/>
        </p:spPr>
        <p:txBody>
          <a:bodyPr wrap="square" lIns="73152" tIns="27432" rIns="73152" bIns="27432" anchor="ctr">
            <a:noAutofit/>
          </a:bodyPr>
          <a:lstStyle/>
          <a:p>
            <a:pPr algn="l">
              <a:lnSpc>
                <a:spcPct val="112000"/>
              </a:lnSpc>
              <a:spcAft>
                <a:spcPts val="600"/>
              </a:spcAft>
            </a:pPr>
            <a:r>
              <a:rPr sz="1700" b="1" i="0">
                <a:solidFill>
                  <a:srgbClr val="4D3727"/>
                </a:solidFill>
                <a:latin typeface="Calibri"/>
              </a:rPr>
              <a:t>Conclusion: PlantRx demonstrates a transfer-learning workflow with a guidance-oriented interface. Real-world validation is the next major step.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7EF"/>
        </a:solidFill>
        <a:effectLst/>
      </p:bgPr>
    </p:bg>
    <p:spTree>
      <p:nvGrpSpPr>
        <p:cNvPr id="1" name=""/>
        <p:cNvGrpSpPr/>
        <p:nvPr/>
      </p:nvGrpSpPr>
      <p:grpSpPr>
        <a:xfrm>
          <a:off x="0" y="0"/>
          <a:ext cx="0" cy="0"/>
          <a:chOff x="0" y="0"/>
          <a:chExt cx="0" cy="0"/>
        </a:xfrm>
      </p:grpSpPr>
      <p:sp>
        <p:nvSpPr>
          <p:cNvPr id="2" name="Rectangle 1"/>
          <p:cNvSpPr/>
          <p:nvPr/>
        </p:nvSpPr>
        <p:spPr>
          <a:xfrm>
            <a:off x="2457491" y="132588"/>
            <a:ext cx="7277016" cy="6592824"/>
          </a:xfrm>
          <a:prstGeom prst="rect">
            <a:avLst/>
          </a:prstGeom>
          <a:solidFill>
            <a:srgbClr val="FFFFFC"/>
          </a:solidFill>
          <a:ln w="12700">
            <a:solidFill>
              <a:srgbClr val="D2D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PlantRx_Signed_Completion_Certificate_Cropped.jpg"/>
          <p:cNvPicPr>
            <a:picLocks noChangeAspect="1"/>
          </p:cNvPicPr>
          <p:nvPr/>
        </p:nvPicPr>
        <p:blipFill>
          <a:blip r:embed="rId2"/>
          <a:stretch>
            <a:fillRect/>
          </a:stretch>
        </p:blipFill>
        <p:spPr>
          <a:xfrm>
            <a:off x="2489495" y="164592"/>
            <a:ext cx="7213008" cy="65288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a:xfrm>
          <a:off x="0" y="0"/>
          <a:ext cx="0" cy="0"/>
          <a:chOff x="0" y="0"/>
          <a:chExt cx="0" cy="0"/>
        </a:xfrm>
      </p:grpSpPr>
      <p:pic>
        <p:nvPicPr>
          <p:cNvPr id="4" name="Picture 3" descr="Botanical wallpaper background"/>
          <p:cNvPicPr>
            <a:picLocks noChangeAspect="1"/>
          </p:cNvPicPr>
          <p:nvPr/>
        </p:nvPicPr>
        <p:blipFill>
          <a:blip r:embed="rId2"/>
          <a:stretch>
            <a:fillRect/>
          </a:stretch>
        </p:blipFill>
        <p:spPr>
          <a:xfrm>
            <a:off x="109729" y="79268"/>
            <a:ext cx="11969496" cy="6669004"/>
          </a:xfrm>
          <a:prstGeom prst="rect">
            <a:avLst/>
          </a:prstGeom>
        </p:spPr>
      </p:pic>
      <p:sp>
        <p:nvSpPr>
          <p:cNvPr id="3" name="Rectangle 2"/>
          <p:cNvSpPr/>
          <p:nvPr/>
        </p:nvSpPr>
        <p:spPr>
          <a:xfrm>
            <a:off x="109728" y="109728"/>
            <a:ext cx="11969496" cy="6629400"/>
          </a:xfrm>
          <a:prstGeom prst="rect">
            <a:avLst/>
          </a:prstGeom>
          <a:noFill/>
          <a:ln w="25400">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Leaf"/>
          <p:cNvSpPr/>
          <p:nvPr/>
        </p:nvSpPr>
        <p:spPr>
          <a:xfrm>
            <a:off x="1207008" y="832513"/>
            <a:ext cx="9875520" cy="4994187"/>
          </a:xfrm>
          <a:custGeom>
            <a:avLst/>
            <a:gdLst/>
            <a:ahLst/>
            <a:cxnLst/>
            <a:rect l="l" t="t" r="r" b="b"/>
            <a:pathLst>
              <a:path w="9875520" h="4994187">
                <a:moveTo>
                  <a:pt x="0" y="2596487"/>
                </a:moveTo>
                <a:lnTo>
                  <a:pt x="98755" y="2277078"/>
                </a:lnTo>
                <a:lnTo>
                  <a:pt x="197510" y="2079762"/>
                </a:lnTo>
                <a:lnTo>
                  <a:pt x="296265" y="1913689"/>
                </a:lnTo>
                <a:lnTo>
                  <a:pt x="395020" y="1766280"/>
                </a:lnTo>
                <a:lnTo>
                  <a:pt x="493776" y="1632256"/>
                </a:lnTo>
                <a:lnTo>
                  <a:pt x="592531" y="1508766"/>
                </a:lnTo>
                <a:lnTo>
                  <a:pt x="691286" y="1394040"/>
                </a:lnTo>
                <a:lnTo>
                  <a:pt x="790041" y="1286887"/>
                </a:lnTo>
                <a:lnTo>
                  <a:pt x="888796" y="1186452"/>
                </a:lnTo>
                <a:lnTo>
                  <a:pt x="987552" y="1092092"/>
                </a:lnTo>
                <a:lnTo>
                  <a:pt x="1086307" y="1003311"/>
                </a:lnTo>
                <a:lnTo>
                  <a:pt x="1185062" y="919709"/>
                </a:lnTo>
                <a:lnTo>
                  <a:pt x="1283817" y="840961"/>
                </a:lnTo>
                <a:lnTo>
                  <a:pt x="1382572" y="766793"/>
                </a:lnTo>
                <a:lnTo>
                  <a:pt x="1481328" y="696974"/>
                </a:lnTo>
                <a:lnTo>
                  <a:pt x="1580083" y="631303"/>
                </a:lnTo>
                <a:lnTo>
                  <a:pt x="1678838" y="569606"/>
                </a:lnTo>
                <a:lnTo>
                  <a:pt x="1777593" y="511726"/>
                </a:lnTo>
                <a:lnTo>
                  <a:pt x="1876348" y="457523"/>
                </a:lnTo>
                <a:lnTo>
                  <a:pt x="1975104" y="406872"/>
                </a:lnTo>
                <a:lnTo>
                  <a:pt x="2073859" y="359658"/>
                </a:lnTo>
                <a:lnTo>
                  <a:pt x="2172614" y="315773"/>
                </a:lnTo>
                <a:lnTo>
                  <a:pt x="2271369" y="275120"/>
                </a:lnTo>
                <a:lnTo>
                  <a:pt x="2370124" y="237605"/>
                </a:lnTo>
                <a:lnTo>
                  <a:pt x="2468880" y="203143"/>
                </a:lnTo>
                <a:lnTo>
                  <a:pt x="2567635" y="171652"/>
                </a:lnTo>
                <a:lnTo>
                  <a:pt x="2666390" y="143054"/>
                </a:lnTo>
                <a:lnTo>
                  <a:pt x="2765145" y="117274"/>
                </a:lnTo>
                <a:lnTo>
                  <a:pt x="2863900" y="94243"/>
                </a:lnTo>
                <a:lnTo>
                  <a:pt x="2962656" y="73890"/>
                </a:lnTo>
                <a:lnTo>
                  <a:pt x="3061411" y="56151"/>
                </a:lnTo>
                <a:lnTo>
                  <a:pt x="3160166" y="40961"/>
                </a:lnTo>
                <a:lnTo>
                  <a:pt x="3258921" y="28258"/>
                </a:lnTo>
                <a:lnTo>
                  <a:pt x="3357676" y="17983"/>
                </a:lnTo>
                <a:lnTo>
                  <a:pt x="3456432" y="10077"/>
                </a:lnTo>
                <a:lnTo>
                  <a:pt x="3555187" y="4481"/>
                </a:lnTo>
                <a:lnTo>
                  <a:pt x="3653942" y="1141"/>
                </a:lnTo>
                <a:lnTo>
                  <a:pt x="3752697" y="0"/>
                </a:lnTo>
                <a:lnTo>
                  <a:pt x="3851452" y="1006"/>
                </a:lnTo>
                <a:lnTo>
                  <a:pt x="3950208" y="4104"/>
                </a:lnTo>
                <a:lnTo>
                  <a:pt x="4048963" y="9243"/>
                </a:lnTo>
                <a:lnTo>
                  <a:pt x="4147718" y="16372"/>
                </a:lnTo>
                <a:lnTo>
                  <a:pt x="4246473" y="25439"/>
                </a:lnTo>
                <a:lnTo>
                  <a:pt x="4345228" y="36395"/>
                </a:lnTo>
                <a:lnTo>
                  <a:pt x="4443984" y="49190"/>
                </a:lnTo>
                <a:lnTo>
                  <a:pt x="4542739" y="63776"/>
                </a:lnTo>
                <a:lnTo>
                  <a:pt x="4641494" y="80105"/>
                </a:lnTo>
                <a:lnTo>
                  <a:pt x="4740249" y="98128"/>
                </a:lnTo>
                <a:lnTo>
                  <a:pt x="4839004" y="117800"/>
                </a:lnTo>
                <a:lnTo>
                  <a:pt x="4937760" y="139073"/>
                </a:lnTo>
                <a:lnTo>
                  <a:pt x="5036515" y="161902"/>
                </a:lnTo>
                <a:lnTo>
                  <a:pt x="5135270" y="186241"/>
                </a:lnTo>
                <a:lnTo>
                  <a:pt x="5234025" y="212044"/>
                </a:lnTo>
                <a:lnTo>
                  <a:pt x="5332780" y="239268"/>
                </a:lnTo>
                <a:lnTo>
                  <a:pt x="5431536" y="267868"/>
                </a:lnTo>
                <a:lnTo>
                  <a:pt x="5530291" y="297800"/>
                </a:lnTo>
                <a:lnTo>
                  <a:pt x="5629046" y="329021"/>
                </a:lnTo>
                <a:lnTo>
                  <a:pt x="5727801" y="361488"/>
                </a:lnTo>
                <a:lnTo>
                  <a:pt x="5826556" y="395158"/>
                </a:lnTo>
                <a:lnTo>
                  <a:pt x="5925312" y="429990"/>
                </a:lnTo>
                <a:lnTo>
                  <a:pt x="6024067" y="465940"/>
                </a:lnTo>
                <a:lnTo>
                  <a:pt x="6122822" y="502969"/>
                </a:lnTo>
                <a:lnTo>
                  <a:pt x="6221577" y="541035"/>
                </a:lnTo>
                <a:lnTo>
                  <a:pt x="6320332" y="580098"/>
                </a:lnTo>
                <a:lnTo>
                  <a:pt x="6419088" y="620117"/>
                </a:lnTo>
                <a:lnTo>
                  <a:pt x="6517843" y="661052"/>
                </a:lnTo>
                <a:lnTo>
                  <a:pt x="6616598" y="702865"/>
                </a:lnTo>
                <a:lnTo>
                  <a:pt x="6715353" y="745515"/>
                </a:lnTo>
                <a:lnTo>
                  <a:pt x="6814108" y="788966"/>
                </a:lnTo>
                <a:lnTo>
                  <a:pt x="6912863" y="833178"/>
                </a:lnTo>
                <a:lnTo>
                  <a:pt x="7011619" y="878113"/>
                </a:lnTo>
                <a:lnTo>
                  <a:pt x="7110374" y="923734"/>
                </a:lnTo>
                <a:lnTo>
                  <a:pt x="7209129" y="970004"/>
                </a:lnTo>
                <a:lnTo>
                  <a:pt x="7307884" y="1016887"/>
                </a:lnTo>
                <a:lnTo>
                  <a:pt x="7406640" y="1064346"/>
                </a:lnTo>
                <a:lnTo>
                  <a:pt x="7505395" y="1112345"/>
                </a:lnTo>
                <a:lnTo>
                  <a:pt x="7604150" y="1160849"/>
                </a:lnTo>
                <a:lnTo>
                  <a:pt x="7702905" y="1209823"/>
                </a:lnTo>
                <a:lnTo>
                  <a:pt x="7801660" y="1259232"/>
                </a:lnTo>
                <a:lnTo>
                  <a:pt x="7900416" y="1309042"/>
                </a:lnTo>
                <a:lnTo>
                  <a:pt x="7999171" y="1359219"/>
                </a:lnTo>
                <a:lnTo>
                  <a:pt x="8097926" y="1409730"/>
                </a:lnTo>
                <a:lnTo>
                  <a:pt x="8196681" y="1460542"/>
                </a:lnTo>
                <a:lnTo>
                  <a:pt x="8295436" y="1511623"/>
                </a:lnTo>
                <a:lnTo>
                  <a:pt x="8394192" y="1562939"/>
                </a:lnTo>
                <a:lnTo>
                  <a:pt x="8492947" y="1614459"/>
                </a:lnTo>
                <a:lnTo>
                  <a:pt x="8591702" y="1666153"/>
                </a:lnTo>
                <a:lnTo>
                  <a:pt x="8690457" y="1717989"/>
                </a:lnTo>
                <a:lnTo>
                  <a:pt x="8789212" y="1769937"/>
                </a:lnTo>
                <a:lnTo>
                  <a:pt x="8887968" y="1821966"/>
                </a:lnTo>
                <a:lnTo>
                  <a:pt x="8986723" y="1874047"/>
                </a:lnTo>
                <a:lnTo>
                  <a:pt x="9085478" y="1926152"/>
                </a:lnTo>
                <a:lnTo>
                  <a:pt x="9184233" y="1978250"/>
                </a:lnTo>
                <a:lnTo>
                  <a:pt x="9282988" y="2030315"/>
                </a:lnTo>
                <a:lnTo>
                  <a:pt x="9381744" y="2082317"/>
                </a:lnTo>
                <a:lnTo>
                  <a:pt x="9480499" y="2134230"/>
                </a:lnTo>
                <a:lnTo>
                  <a:pt x="9579254" y="2186027"/>
                </a:lnTo>
                <a:lnTo>
                  <a:pt x="9678009" y="2237680"/>
                </a:lnTo>
                <a:lnTo>
                  <a:pt x="9776764" y="2289165"/>
                </a:lnTo>
                <a:lnTo>
                  <a:pt x="9875520" y="2340455"/>
                </a:lnTo>
                <a:lnTo>
                  <a:pt x="9776764" y="2399115"/>
                </a:lnTo>
                <a:lnTo>
                  <a:pt x="9678009" y="2457861"/>
                </a:lnTo>
                <a:lnTo>
                  <a:pt x="9579254" y="2516667"/>
                </a:lnTo>
                <a:lnTo>
                  <a:pt x="9480499" y="2575510"/>
                </a:lnTo>
                <a:lnTo>
                  <a:pt x="9381744" y="2634363"/>
                </a:lnTo>
                <a:lnTo>
                  <a:pt x="9282988" y="2693201"/>
                </a:lnTo>
                <a:lnTo>
                  <a:pt x="9184233" y="2751999"/>
                </a:lnTo>
                <a:lnTo>
                  <a:pt x="9085478" y="2810729"/>
                </a:lnTo>
                <a:lnTo>
                  <a:pt x="8986723" y="2869364"/>
                </a:lnTo>
                <a:lnTo>
                  <a:pt x="8887968" y="2927878"/>
                </a:lnTo>
                <a:lnTo>
                  <a:pt x="8789212" y="2986243"/>
                </a:lnTo>
                <a:lnTo>
                  <a:pt x="8690457" y="3044430"/>
                </a:lnTo>
                <a:lnTo>
                  <a:pt x="8591702" y="3102411"/>
                </a:lnTo>
                <a:lnTo>
                  <a:pt x="8492947" y="3160158"/>
                </a:lnTo>
                <a:lnTo>
                  <a:pt x="8394192" y="3217640"/>
                </a:lnTo>
                <a:lnTo>
                  <a:pt x="8295436" y="3274828"/>
                </a:lnTo>
                <a:lnTo>
                  <a:pt x="8196681" y="3331692"/>
                </a:lnTo>
                <a:lnTo>
                  <a:pt x="8097926" y="3388201"/>
                </a:lnTo>
                <a:lnTo>
                  <a:pt x="7999171" y="3444324"/>
                </a:lnTo>
                <a:lnTo>
                  <a:pt x="7900416" y="3500031"/>
                </a:lnTo>
                <a:lnTo>
                  <a:pt x="7801660" y="3555289"/>
                </a:lnTo>
                <a:lnTo>
                  <a:pt x="7702905" y="3610066"/>
                </a:lnTo>
                <a:lnTo>
                  <a:pt x="7604150" y="3664329"/>
                </a:lnTo>
                <a:lnTo>
                  <a:pt x="7505395" y="3718047"/>
                </a:lnTo>
                <a:lnTo>
                  <a:pt x="7406640" y="3771185"/>
                </a:lnTo>
                <a:lnTo>
                  <a:pt x="7307884" y="3823710"/>
                </a:lnTo>
                <a:lnTo>
                  <a:pt x="7209129" y="3875588"/>
                </a:lnTo>
                <a:lnTo>
                  <a:pt x="7110374" y="3926784"/>
                </a:lnTo>
                <a:lnTo>
                  <a:pt x="7011619" y="3977263"/>
                </a:lnTo>
                <a:lnTo>
                  <a:pt x="6912863" y="4026991"/>
                </a:lnTo>
                <a:lnTo>
                  <a:pt x="6814108" y="4075932"/>
                </a:lnTo>
                <a:lnTo>
                  <a:pt x="6715353" y="4124050"/>
                </a:lnTo>
                <a:lnTo>
                  <a:pt x="6616598" y="4171308"/>
                </a:lnTo>
                <a:lnTo>
                  <a:pt x="6517843" y="4217671"/>
                </a:lnTo>
                <a:lnTo>
                  <a:pt x="6419088" y="4263100"/>
                </a:lnTo>
                <a:lnTo>
                  <a:pt x="6320332" y="4307558"/>
                </a:lnTo>
                <a:lnTo>
                  <a:pt x="6221577" y="4351008"/>
                </a:lnTo>
                <a:lnTo>
                  <a:pt x="6122822" y="4393411"/>
                </a:lnTo>
                <a:lnTo>
                  <a:pt x="6024067" y="4434730"/>
                </a:lnTo>
                <a:lnTo>
                  <a:pt x="5925312" y="4474924"/>
                </a:lnTo>
                <a:lnTo>
                  <a:pt x="5826556" y="4513955"/>
                </a:lnTo>
                <a:lnTo>
                  <a:pt x="5727801" y="4551783"/>
                </a:lnTo>
                <a:lnTo>
                  <a:pt x="5629046" y="4588368"/>
                </a:lnTo>
                <a:lnTo>
                  <a:pt x="5530291" y="4623670"/>
                </a:lnTo>
                <a:lnTo>
                  <a:pt x="5431536" y="4657647"/>
                </a:lnTo>
                <a:lnTo>
                  <a:pt x="5332780" y="4690259"/>
                </a:lnTo>
                <a:lnTo>
                  <a:pt x="5234025" y="4721464"/>
                </a:lnTo>
                <a:lnTo>
                  <a:pt x="5135270" y="4751219"/>
                </a:lnTo>
                <a:lnTo>
                  <a:pt x="5036515" y="4779484"/>
                </a:lnTo>
                <a:lnTo>
                  <a:pt x="4937760" y="4806214"/>
                </a:lnTo>
                <a:lnTo>
                  <a:pt x="4839004" y="4831366"/>
                </a:lnTo>
                <a:lnTo>
                  <a:pt x="4740249" y="4854897"/>
                </a:lnTo>
                <a:lnTo>
                  <a:pt x="4641494" y="4876762"/>
                </a:lnTo>
                <a:lnTo>
                  <a:pt x="4542739" y="4896918"/>
                </a:lnTo>
                <a:lnTo>
                  <a:pt x="4443984" y="4915318"/>
                </a:lnTo>
                <a:lnTo>
                  <a:pt x="4345228" y="4931916"/>
                </a:lnTo>
                <a:lnTo>
                  <a:pt x="4246473" y="4946668"/>
                </a:lnTo>
                <a:lnTo>
                  <a:pt x="4147718" y="4959525"/>
                </a:lnTo>
                <a:lnTo>
                  <a:pt x="4048963" y="4970441"/>
                </a:lnTo>
                <a:lnTo>
                  <a:pt x="3950208" y="4979368"/>
                </a:lnTo>
                <a:lnTo>
                  <a:pt x="3851452" y="4986255"/>
                </a:lnTo>
                <a:lnTo>
                  <a:pt x="3752697" y="4991055"/>
                </a:lnTo>
                <a:lnTo>
                  <a:pt x="3653942" y="4993716"/>
                </a:lnTo>
                <a:lnTo>
                  <a:pt x="3555187" y="4994187"/>
                </a:lnTo>
                <a:lnTo>
                  <a:pt x="3456432" y="4992416"/>
                </a:lnTo>
                <a:lnTo>
                  <a:pt x="3357676" y="4988350"/>
                </a:lnTo>
                <a:lnTo>
                  <a:pt x="3258921" y="4981934"/>
                </a:lnTo>
                <a:lnTo>
                  <a:pt x="3160166" y="4973111"/>
                </a:lnTo>
                <a:lnTo>
                  <a:pt x="3061411" y="4961826"/>
                </a:lnTo>
                <a:lnTo>
                  <a:pt x="2962656" y="4948020"/>
                </a:lnTo>
                <a:lnTo>
                  <a:pt x="2863900" y="4931630"/>
                </a:lnTo>
                <a:lnTo>
                  <a:pt x="2765145" y="4912596"/>
                </a:lnTo>
                <a:lnTo>
                  <a:pt x="2666390" y="4890851"/>
                </a:lnTo>
                <a:lnTo>
                  <a:pt x="2567635" y="4866329"/>
                </a:lnTo>
                <a:lnTo>
                  <a:pt x="2468880" y="4838958"/>
                </a:lnTo>
                <a:lnTo>
                  <a:pt x="2370124" y="4808666"/>
                </a:lnTo>
                <a:lnTo>
                  <a:pt x="2271369" y="4775374"/>
                </a:lnTo>
                <a:lnTo>
                  <a:pt x="2172614" y="4739000"/>
                </a:lnTo>
                <a:lnTo>
                  <a:pt x="2073859" y="4699456"/>
                </a:lnTo>
                <a:lnTo>
                  <a:pt x="1975104" y="4656649"/>
                </a:lnTo>
                <a:lnTo>
                  <a:pt x="1876348" y="4610478"/>
                </a:lnTo>
                <a:lnTo>
                  <a:pt x="1777593" y="4560833"/>
                </a:lnTo>
                <a:lnTo>
                  <a:pt x="1678838" y="4507594"/>
                </a:lnTo>
                <a:lnTo>
                  <a:pt x="1580083" y="4450629"/>
                </a:lnTo>
                <a:lnTo>
                  <a:pt x="1481328" y="4389790"/>
                </a:lnTo>
                <a:lnTo>
                  <a:pt x="1382572" y="4324910"/>
                </a:lnTo>
                <a:lnTo>
                  <a:pt x="1283817" y="4255798"/>
                </a:lnTo>
                <a:lnTo>
                  <a:pt x="1185062" y="4182236"/>
                </a:lnTo>
                <a:lnTo>
                  <a:pt x="1086307" y="4103962"/>
                </a:lnTo>
                <a:lnTo>
                  <a:pt x="987552" y="4020668"/>
                </a:lnTo>
                <a:lnTo>
                  <a:pt x="888796" y="3931975"/>
                </a:lnTo>
                <a:lnTo>
                  <a:pt x="790041" y="3837410"/>
                </a:lnTo>
                <a:lnTo>
                  <a:pt x="691286" y="3736364"/>
                </a:lnTo>
                <a:lnTo>
                  <a:pt x="592531" y="3628024"/>
                </a:lnTo>
                <a:lnTo>
                  <a:pt x="493776" y="3511257"/>
                </a:lnTo>
                <a:lnTo>
                  <a:pt x="395020" y="3384384"/>
                </a:lnTo>
                <a:lnTo>
                  <a:pt x="296265" y="3244694"/>
                </a:lnTo>
                <a:lnTo>
                  <a:pt x="197510" y="3087175"/>
                </a:lnTo>
                <a:lnTo>
                  <a:pt x="98755" y="2899874"/>
                </a:lnTo>
                <a:close/>
              </a:path>
            </a:pathLst>
          </a:custGeom>
          <a:solidFill>
            <a:srgbClr val="FFFBEF"/>
          </a:solidFill>
          <a:ln w="38100">
            <a:solidFill>
              <a:srgbClr val="2B5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flipV="1">
            <a:off x="2768803" y="1274055"/>
            <a:ext cx="1283817" cy="2148390"/>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768803" y="3422445"/>
            <a:ext cx="1283817" cy="2011764"/>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756355" y="1191434"/>
            <a:ext cx="1283817" cy="2220258"/>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56355" y="3411692"/>
            <a:ext cx="1283817" cy="2067057"/>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743907" y="1288723"/>
            <a:ext cx="1283817" cy="2107095"/>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43907" y="3395818"/>
            <a:ext cx="1283817" cy="1946571"/>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5731459" y="1523380"/>
            <a:ext cx="1283817" cy="1851443"/>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31459" y="3374823"/>
            <a:ext cx="1283817" cy="1690722"/>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719011" y="1857466"/>
            <a:ext cx="1283817" cy="1491242"/>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19011" y="3348708"/>
            <a:ext cx="1283817" cy="1335549"/>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06563" y="2256590"/>
            <a:ext cx="1283817" cy="1060882"/>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06563" y="3317472"/>
            <a:ext cx="1283817" cy="913727"/>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694115" y="2689774"/>
            <a:ext cx="1283817" cy="591341"/>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94115" y="3281115"/>
            <a:ext cx="1283817" cy="454683"/>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681667" y="2998425"/>
            <a:ext cx="987552" cy="241213"/>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81667" y="3239638"/>
            <a:ext cx="987552" cy="138287"/>
          </a:xfrm>
          <a:prstGeom prst="line">
            <a:avLst/>
          </a:prstGeom>
          <a:ln w="15875">
            <a:solidFill>
              <a:srgbClr val="E3E8D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70432" y="3188099"/>
            <a:ext cx="9597542" cy="240901"/>
          </a:xfrm>
          <a:prstGeom prst="line">
            <a:avLst/>
          </a:prstGeom>
          <a:ln w="25400">
            <a:solidFill>
              <a:srgbClr val="D3DEC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40080" y="3429000"/>
            <a:ext cx="566928" cy="457200"/>
          </a:xfrm>
          <a:prstGeom prst="line">
            <a:avLst/>
          </a:prstGeom>
          <a:ln w="38100">
            <a:solidFill>
              <a:srgbClr val="2B5B3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253082" y="1200727"/>
            <a:ext cx="6583680" cy="1097280"/>
          </a:xfrm>
          <a:prstGeom prst="rect">
            <a:avLst/>
          </a:prstGeom>
          <a:noFill/>
        </p:spPr>
        <p:txBody>
          <a:bodyPr wrap="square" lIns="73152" tIns="27432" rIns="73152" bIns="27432" anchor="ctr">
            <a:noAutofit/>
          </a:bodyPr>
          <a:lstStyle/>
          <a:p>
            <a:pPr algn="ctr">
              <a:lnSpc>
                <a:spcPct val="112000"/>
              </a:lnSpc>
              <a:spcAft>
                <a:spcPts val="600"/>
              </a:spcAft>
            </a:pPr>
            <a:r>
              <a:rPr sz="6600" b="1" i="0" dirty="0">
                <a:solidFill>
                  <a:srgbClr val="5C3B25"/>
                </a:solidFill>
                <a:latin typeface="Cambria"/>
              </a:rPr>
              <a:t>Thank You</a:t>
            </a:r>
          </a:p>
        </p:txBody>
      </p:sp>
      <p:sp>
        <p:nvSpPr>
          <p:cNvPr id="24" name="TextBox 23"/>
          <p:cNvSpPr txBox="1"/>
          <p:nvPr/>
        </p:nvSpPr>
        <p:spPr>
          <a:xfrm>
            <a:off x="2289658" y="2217844"/>
            <a:ext cx="6583680" cy="640080"/>
          </a:xfrm>
          <a:prstGeom prst="rect">
            <a:avLst/>
          </a:prstGeom>
          <a:noFill/>
        </p:spPr>
        <p:txBody>
          <a:bodyPr wrap="square" lIns="73152" tIns="27432" rIns="73152" bIns="27432" anchor="ctr">
            <a:noAutofit/>
          </a:bodyPr>
          <a:lstStyle/>
          <a:p>
            <a:pPr algn="ctr">
              <a:lnSpc>
                <a:spcPct val="112000"/>
              </a:lnSpc>
              <a:spcAft>
                <a:spcPts val="600"/>
              </a:spcAft>
            </a:pPr>
            <a:r>
              <a:rPr sz="3400" b="0" i="0" dirty="0">
                <a:solidFill>
                  <a:srgbClr val="4D3727"/>
                </a:solidFill>
                <a:latin typeface="Cambria"/>
              </a:rPr>
              <a:t>Questions &amp; Answers</a:t>
            </a:r>
          </a:p>
        </p:txBody>
      </p:sp>
      <p:sp>
        <p:nvSpPr>
          <p:cNvPr id="25" name="TextBox 24"/>
          <p:cNvSpPr txBox="1"/>
          <p:nvPr/>
        </p:nvSpPr>
        <p:spPr>
          <a:xfrm>
            <a:off x="2439619" y="2826822"/>
            <a:ext cx="6583680" cy="457200"/>
          </a:xfrm>
          <a:prstGeom prst="rect">
            <a:avLst/>
          </a:prstGeom>
          <a:noFill/>
        </p:spPr>
        <p:txBody>
          <a:bodyPr wrap="square" lIns="73152" tIns="27432" rIns="73152" bIns="27432" anchor="t">
            <a:noAutofit/>
          </a:bodyPr>
          <a:lstStyle/>
          <a:p>
            <a:pPr algn="ctr">
              <a:lnSpc>
                <a:spcPct val="112000"/>
              </a:lnSpc>
              <a:spcAft>
                <a:spcPts val="600"/>
              </a:spcAft>
            </a:pPr>
            <a:r>
              <a:rPr sz="1900" b="0" i="0" dirty="0" err="1">
                <a:solidFill>
                  <a:srgbClr val="4D3727"/>
                </a:solidFill>
                <a:latin typeface="Calibri"/>
              </a:rPr>
              <a:t>PlantRx</a:t>
            </a:r>
            <a:r>
              <a:rPr sz="1900" b="0" i="0" dirty="0">
                <a:solidFill>
                  <a:srgbClr val="4D3727"/>
                </a:solidFill>
                <a:latin typeface="Calibri"/>
              </a:rPr>
              <a:t>  •  Plant Disease Detection System</a:t>
            </a:r>
          </a:p>
        </p:txBody>
      </p:sp>
      <p:sp>
        <p:nvSpPr>
          <p:cNvPr id="26" name="TextBox 25"/>
          <p:cNvSpPr txBox="1"/>
          <p:nvPr/>
        </p:nvSpPr>
        <p:spPr>
          <a:xfrm>
            <a:off x="1898295" y="3508268"/>
            <a:ext cx="6583680" cy="1845738"/>
          </a:xfrm>
          <a:prstGeom prst="rect">
            <a:avLst/>
          </a:prstGeom>
          <a:noFill/>
        </p:spPr>
        <p:txBody>
          <a:bodyPr wrap="square" lIns="73152" tIns="27432" rIns="73152" bIns="27432" anchor="t">
            <a:noAutofit/>
          </a:bodyPr>
          <a:lstStyle/>
          <a:p>
            <a:pPr algn="ctr">
              <a:lnSpc>
                <a:spcPct val="112000"/>
              </a:lnSpc>
              <a:spcAft>
                <a:spcPts val="600"/>
              </a:spcAft>
            </a:pPr>
            <a:r>
              <a:rPr sz="1600" b="0" i="0" dirty="0">
                <a:solidFill>
                  <a:srgbClr val="4D3727"/>
                </a:solidFill>
                <a:latin typeface="Calibri"/>
              </a:rPr>
              <a:t>•  M.Sc. Applied Data Science</a:t>
            </a:r>
            <a:endParaRPr lang="en-IN" sz="1600" b="0" i="0" dirty="0">
              <a:solidFill>
                <a:srgbClr val="4D3727"/>
              </a:solidFill>
              <a:latin typeface="Calibri"/>
            </a:endParaRPr>
          </a:p>
          <a:p>
            <a:pPr algn="l">
              <a:lnSpc>
                <a:spcPct val="112000"/>
              </a:lnSpc>
              <a:spcAft>
                <a:spcPts val="300"/>
              </a:spcAft>
            </a:pPr>
            <a:r>
              <a:rPr lang="en-IN" sz="1600" b="1" dirty="0">
                <a:solidFill>
                  <a:srgbClr val="4D3727"/>
                </a:solidFill>
                <a:latin typeface="Calibri"/>
              </a:rPr>
              <a:t>                                             Om Desai (</a:t>
            </a:r>
            <a:r>
              <a:rPr lang="en-IN" sz="1600" dirty="0">
                <a:solidFill>
                  <a:srgbClr val="4D3727"/>
                </a:solidFill>
                <a:latin typeface="Calibri"/>
              </a:rPr>
              <a:t>RA2532014010138</a:t>
            </a:r>
            <a:r>
              <a:rPr lang="en-IN" sz="1600" b="1" dirty="0">
                <a:solidFill>
                  <a:srgbClr val="4D3727"/>
                </a:solidFill>
                <a:latin typeface="Calibri"/>
              </a:rPr>
              <a:t>)</a:t>
            </a:r>
          </a:p>
          <a:p>
            <a:pPr>
              <a:lnSpc>
                <a:spcPct val="112000"/>
              </a:lnSpc>
              <a:spcAft>
                <a:spcPts val="300"/>
              </a:spcAft>
            </a:pPr>
            <a:r>
              <a:rPr lang="en-IN" sz="1600" b="1" dirty="0">
                <a:solidFill>
                  <a:srgbClr val="4D3727"/>
                </a:solidFill>
                <a:latin typeface="Calibri"/>
              </a:rPr>
              <a:t>                                             </a:t>
            </a:r>
            <a:r>
              <a:rPr lang="en-IN" sz="1600" b="1" dirty="0" err="1">
                <a:solidFill>
                  <a:srgbClr val="4D3727"/>
                </a:solidFill>
                <a:latin typeface="Calibri"/>
              </a:rPr>
              <a:t>S</a:t>
            </a:r>
            <a:r>
              <a:rPr lang="en-IN" sz="1600" b="1" i="0" dirty="0" err="1">
                <a:solidFill>
                  <a:srgbClr val="4D3727"/>
                </a:solidFill>
                <a:latin typeface="Calibri"/>
              </a:rPr>
              <a:t>anket</a:t>
            </a:r>
            <a:r>
              <a:rPr lang="en-IN" sz="1600" b="1" i="0" dirty="0">
                <a:solidFill>
                  <a:srgbClr val="4D3727"/>
                </a:solidFill>
                <a:latin typeface="Calibri"/>
              </a:rPr>
              <a:t> Kurmi </a:t>
            </a:r>
            <a:r>
              <a:rPr lang="en-IN" sz="1600" b="1" dirty="0">
                <a:solidFill>
                  <a:srgbClr val="4D3727"/>
                </a:solidFill>
              </a:rPr>
              <a:t>(</a:t>
            </a:r>
            <a:r>
              <a:rPr lang="en-IN" sz="1600" dirty="0">
                <a:solidFill>
                  <a:srgbClr val="4D3727"/>
                </a:solidFill>
              </a:rPr>
              <a:t>RA2532014010156</a:t>
            </a:r>
            <a:r>
              <a:rPr lang="en-IN" sz="1600" b="1" dirty="0">
                <a:solidFill>
                  <a:srgbClr val="4D3727"/>
                </a:solidFill>
              </a:rPr>
              <a:t>)</a:t>
            </a:r>
            <a:endParaRPr lang="en-IN" sz="1600" b="1" i="0" dirty="0">
              <a:solidFill>
                <a:srgbClr val="4D3727"/>
              </a:solidFill>
              <a:latin typeface="Calibri"/>
            </a:endParaRPr>
          </a:p>
          <a:p>
            <a:pPr>
              <a:lnSpc>
                <a:spcPct val="112000"/>
              </a:lnSpc>
              <a:spcAft>
                <a:spcPts val="300"/>
              </a:spcAft>
            </a:pPr>
            <a:r>
              <a:rPr lang="en-IN" sz="1600" b="1" i="0" dirty="0">
                <a:solidFill>
                  <a:srgbClr val="4D3727"/>
                </a:solidFill>
                <a:latin typeface="Calibri"/>
              </a:rPr>
              <a:t>                                             </a:t>
            </a:r>
            <a:r>
              <a:rPr lang="en-IN" sz="1600" b="1" i="0" dirty="0" err="1">
                <a:solidFill>
                  <a:srgbClr val="4D3727"/>
                </a:solidFill>
                <a:latin typeface="Calibri"/>
              </a:rPr>
              <a:t>Abhirup</a:t>
            </a:r>
            <a:r>
              <a:rPr lang="en-IN" sz="1600" b="1" i="0" dirty="0">
                <a:solidFill>
                  <a:srgbClr val="4D3727"/>
                </a:solidFill>
                <a:latin typeface="Calibri"/>
              </a:rPr>
              <a:t> </a:t>
            </a:r>
            <a:r>
              <a:rPr lang="en-IN" sz="1600" b="1" i="0" dirty="0" err="1">
                <a:solidFill>
                  <a:srgbClr val="4D3727"/>
                </a:solidFill>
                <a:latin typeface="Calibri"/>
              </a:rPr>
              <a:t>Urinda</a:t>
            </a:r>
            <a:r>
              <a:rPr lang="en-IN" sz="1600" b="1" i="0" dirty="0">
                <a:solidFill>
                  <a:srgbClr val="4D3727"/>
                </a:solidFill>
                <a:latin typeface="Calibri"/>
              </a:rPr>
              <a:t> </a:t>
            </a:r>
            <a:r>
              <a:rPr lang="en-IN" sz="1600" b="1" dirty="0">
                <a:solidFill>
                  <a:srgbClr val="4D3727"/>
                </a:solidFill>
              </a:rPr>
              <a:t>(</a:t>
            </a:r>
            <a:r>
              <a:rPr lang="en-IN" sz="1600" dirty="0">
                <a:solidFill>
                  <a:srgbClr val="4D3727"/>
                </a:solidFill>
              </a:rPr>
              <a:t>RA2532014010160</a:t>
            </a:r>
            <a:r>
              <a:rPr lang="en-IN" sz="1600" b="1" dirty="0">
                <a:solidFill>
                  <a:srgbClr val="4D3727"/>
                </a:solidFill>
              </a:rPr>
              <a:t>)</a:t>
            </a:r>
            <a:endParaRPr lang="en-IN" sz="1600" b="1" i="0" dirty="0">
              <a:solidFill>
                <a:srgbClr val="4D3727"/>
              </a:solidFill>
              <a:latin typeface="Calibri"/>
            </a:endParaRPr>
          </a:p>
          <a:p>
            <a:pPr>
              <a:lnSpc>
                <a:spcPct val="112000"/>
              </a:lnSpc>
              <a:spcAft>
                <a:spcPts val="300"/>
              </a:spcAft>
            </a:pPr>
            <a:r>
              <a:rPr lang="en-IN" sz="1600" b="1" dirty="0">
                <a:solidFill>
                  <a:srgbClr val="4D3727"/>
                </a:solidFill>
                <a:latin typeface="Calibri"/>
              </a:rPr>
              <a:t>                                             Sourish Haldar </a:t>
            </a:r>
            <a:r>
              <a:rPr lang="en-IN" sz="1600" b="1" dirty="0">
                <a:solidFill>
                  <a:srgbClr val="4D3727"/>
                </a:solidFill>
              </a:rPr>
              <a:t>(</a:t>
            </a:r>
            <a:r>
              <a:rPr lang="en-IN" sz="1600" dirty="0">
                <a:solidFill>
                  <a:srgbClr val="4D3727"/>
                </a:solidFill>
              </a:rPr>
              <a:t>RA2532014010161</a:t>
            </a:r>
            <a:r>
              <a:rPr lang="en-IN" sz="1600" b="1" dirty="0">
                <a:solidFill>
                  <a:srgbClr val="4D3727"/>
                </a:solidFill>
              </a:rPr>
              <a:t>)</a:t>
            </a:r>
            <a:endParaRPr lang="en-US" sz="1600" b="1" i="0" dirty="0">
              <a:solidFill>
                <a:srgbClr val="4D3727"/>
              </a:solidFill>
              <a:latin typeface="Calibri"/>
            </a:endParaRPr>
          </a:p>
          <a:p>
            <a:pPr algn="ctr">
              <a:lnSpc>
                <a:spcPct val="112000"/>
              </a:lnSpc>
              <a:spcAft>
                <a:spcPts val="600"/>
              </a:spcAft>
            </a:pPr>
            <a:endParaRPr sz="1600" b="0" i="0" dirty="0">
              <a:solidFill>
                <a:srgbClr val="4D3727"/>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168</TotalTime>
  <Words>1339</Words>
  <Application>Microsoft Office PowerPoint</Application>
  <PresentationFormat>Widescreen</PresentationFormat>
  <Paragraphs>226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Sourish Halder</dc:creator>
  <cp:keywords/>
  <dc:description>generated using python-pptx</dc:description>
  <cp:lastModifiedBy>Sourish Halder</cp:lastModifiedBy>
  <cp:revision>9</cp:revision>
  <dcterms:created xsi:type="dcterms:W3CDTF">2013-01-27T09:14:16Z</dcterms:created>
  <dcterms:modified xsi:type="dcterms:W3CDTF">2026-10-13T16:18:13Z</dcterms:modified>
  <cp:category/>
</cp:coreProperties>
</file>